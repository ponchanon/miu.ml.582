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3" r:id="rId1"/>
  </p:sldMasterIdLst>
  <p:notesMasterIdLst>
    <p:notesMasterId r:id="rId39"/>
  </p:notesMasterIdLst>
  <p:sldIdLst>
    <p:sldId id="381" r:id="rId2"/>
    <p:sldId id="298" r:id="rId3"/>
    <p:sldId id="382" r:id="rId4"/>
    <p:sldId id="397" r:id="rId5"/>
    <p:sldId id="387" r:id="rId6"/>
    <p:sldId id="398" r:id="rId7"/>
    <p:sldId id="391" r:id="rId8"/>
    <p:sldId id="396" r:id="rId9"/>
    <p:sldId id="388" r:id="rId10"/>
    <p:sldId id="389" r:id="rId11"/>
    <p:sldId id="392" r:id="rId12"/>
    <p:sldId id="383" r:id="rId13"/>
    <p:sldId id="384" r:id="rId14"/>
    <p:sldId id="390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258FED-AADA-4DB0-9438-5AACDB22A84A}">
  <a:tblStyle styleId="{57258FED-AADA-4DB0-9438-5AACDB22A84A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B243067-6389-4ADA-9A5E-092C50FB3A3F}" styleName="Table_1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123" autoAdjust="0"/>
  </p:normalViewPr>
  <p:slideViewPr>
    <p:cSldViewPr snapToGrid="0">
      <p:cViewPr varScale="1">
        <p:scale>
          <a:sx n="69" d="100"/>
          <a:sy n="69" d="100"/>
        </p:scale>
        <p:origin x="2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1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3221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8d9052a937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8d9052a937_0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8d9052a937_0_2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8d9052a937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8d9052a937_0_2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8d9052a937_0_2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8d9052a937_0_2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8d9052a937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8d9052a937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8d9052a937_0_2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g8d9052a937_0_2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eecs.berkeley.edu/~jegonzal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eecs.berkeley.edu/~jegonzal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eecs.berkeley.edu/~jegonzal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eecs.berkeley.edu/~jegonzal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rt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2048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boto Light"/>
              <a:buNone/>
              <a:defRPr sz="3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4800"/>
              <a:buNone/>
              <a:defRPr sz="4800">
                <a:solidFill>
                  <a:srgbClr val="6D9EEB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61950" rtl="0">
              <a:spcBef>
                <a:spcPts val="1100"/>
              </a:spcBef>
              <a:spcAft>
                <a:spcPts val="0"/>
              </a:spcAft>
              <a:buSzPts val="21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61950" rtl="0">
              <a:spcBef>
                <a:spcPts val="1100"/>
              </a:spcBef>
              <a:spcAft>
                <a:spcPts val="0"/>
              </a:spcAft>
              <a:buSzPts val="21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61950" rtl="0">
              <a:spcBef>
                <a:spcPts val="1100"/>
              </a:spcBef>
              <a:spcAft>
                <a:spcPts val="0"/>
              </a:spcAft>
              <a:buSzPts val="21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61950" rtl="0">
              <a:spcBef>
                <a:spcPts val="1100"/>
              </a:spcBef>
              <a:spcAft>
                <a:spcPts val="0"/>
              </a:spcAft>
              <a:buSzPts val="21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61950" rtl="0">
              <a:spcBef>
                <a:spcPts val="1100"/>
              </a:spcBef>
              <a:spcAft>
                <a:spcPts val="0"/>
              </a:spcAft>
              <a:buSzPts val="21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61950" rtl="0">
              <a:spcBef>
                <a:spcPts val="1100"/>
              </a:spcBef>
              <a:spcAft>
                <a:spcPts val="0"/>
              </a:spcAft>
              <a:buSzPts val="21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61950" rtl="0">
              <a:spcBef>
                <a:spcPts val="1100"/>
              </a:spcBef>
              <a:spcAft>
                <a:spcPts val="0"/>
              </a:spcAft>
              <a:buSzPts val="21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61950" rtl="0">
              <a:spcBef>
                <a:spcPts val="1100"/>
              </a:spcBef>
              <a:spcAft>
                <a:spcPts val="1100"/>
              </a:spcAft>
              <a:buSzPts val="21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1100"/>
              </a:spcBef>
              <a:spcAft>
                <a:spcPts val="110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1100"/>
              </a:spcBef>
              <a:spcAft>
                <a:spcPts val="110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415600" y="1536192"/>
            <a:ext cx="5266800" cy="456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1100"/>
              </a:spcBef>
              <a:spcAft>
                <a:spcPts val="110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52668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1100"/>
              </a:spcBef>
              <a:spcAft>
                <a:spcPts val="110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415600" y="5662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415600" y="1536200"/>
            <a:ext cx="5266800" cy="456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1100"/>
              </a:spcBef>
              <a:spcAft>
                <a:spcPts val="110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2"/>
          </p:nvPr>
        </p:nvSpPr>
        <p:spPr>
          <a:xfrm>
            <a:off x="6510533" y="597400"/>
            <a:ext cx="5266800" cy="5498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1100"/>
              </a:spcBef>
              <a:spcAft>
                <a:spcPts val="110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52668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0" y="8"/>
            <a:ext cx="6096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6510533" y="1536200"/>
            <a:ext cx="5266800" cy="456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1100"/>
              </a:spcBef>
              <a:spcAft>
                <a:spcPts val="110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2"/>
          </p:nvPr>
        </p:nvSpPr>
        <p:spPr>
          <a:xfrm>
            <a:off x="414533" y="597400"/>
            <a:ext cx="5266800" cy="5498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1100"/>
              </a:spcBef>
              <a:spcAft>
                <a:spcPts val="110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6510533" y="593367"/>
            <a:ext cx="52668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52450" y="320675"/>
            <a:ext cx="10801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  <a:defRPr/>
            </a:lvl1pPr>
            <a:lvl2pPr marL="914400" lvl="1" indent="-3810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34800" y="6690243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>
            <a:hlinkClick r:id="rId3"/>
          </p:cNvPr>
          <p:cNvSpPr txBox="1"/>
          <p:nvPr/>
        </p:nvSpPr>
        <p:spPr>
          <a:xfrm>
            <a:off x="10758797" y="6670226"/>
            <a:ext cx="1026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Joseph E. Gonzalez</a:t>
            </a:r>
            <a:endParaRPr sz="700">
              <a:solidFill>
                <a:srgbClr val="7F7F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SECTION_HEADER_1">
    <p:bg>
      <p:bgPr>
        <a:solidFill>
          <a:schemeClr val="accent5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1100"/>
              </a:spcBef>
              <a:spcAft>
                <a:spcPts val="11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34800" y="6690243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>
            <a:hlinkClick r:id="rId3"/>
          </p:cNvPr>
          <p:cNvSpPr txBox="1"/>
          <p:nvPr/>
        </p:nvSpPr>
        <p:spPr>
          <a:xfrm>
            <a:off x="10758797" y="6670226"/>
            <a:ext cx="1026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Joseph E. Gonzalez</a:t>
            </a:r>
            <a:endParaRPr sz="70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bg>
      <p:bgPr>
        <a:solidFill>
          <a:srgbClr val="3F3F3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552450" y="320675"/>
            <a:ext cx="10801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  <a:defRPr>
                <a:solidFill>
                  <a:schemeClr val="lt1"/>
                </a:solidFill>
              </a:defRPr>
            </a:lvl1pPr>
            <a:lvl2pPr marL="914400" lvl="1" indent="-3810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Light"/>
              <a:buNone/>
              <a:defRPr sz="3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Light"/>
              <a:buNone/>
              <a:defRPr sz="37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Light"/>
              <a:buNone/>
              <a:defRPr sz="37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Light"/>
              <a:buNone/>
              <a:defRPr sz="37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Light"/>
              <a:buNone/>
              <a:defRPr sz="37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Light"/>
              <a:buNone/>
              <a:defRPr sz="37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Light"/>
              <a:buNone/>
              <a:defRPr sz="37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Light"/>
              <a:buNone/>
              <a:defRPr sz="37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Light"/>
              <a:buNone/>
              <a:defRPr sz="37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19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•"/>
              <a:defRPr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6195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•"/>
              <a:defRPr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6195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•"/>
              <a:defRPr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6195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•"/>
              <a:defRPr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6195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•"/>
              <a:defRPr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6195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•"/>
              <a:defRPr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6195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•"/>
              <a:defRPr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6195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•"/>
              <a:defRPr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61950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2100"/>
              <a:buFont typeface="Roboto"/>
              <a:buChar char="•"/>
              <a:defRPr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4">
            <a:extLst>
              <a:ext uri="{FF2B5EF4-FFF2-40B4-BE49-F238E27FC236}">
                <a16:creationId xmlns:a16="http://schemas.microsoft.com/office/drawing/2014/main" id="{E8550AB0-0240-478A-A442-B3232B18FF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D96FE5-AC78-45A6-BD89-09BAD618F169}" type="slidenum">
              <a:rPr lang="en-US" altLang="en-US" smtClean="0"/>
              <a:pPr/>
              <a:t>1</a:t>
            </a:fld>
            <a:endParaRPr lang="en-US" altLang="en-US" sz="1200"/>
          </a:p>
        </p:txBody>
      </p:sp>
      <p:sp>
        <p:nvSpPr>
          <p:cNvPr id="4099" name="Rectangle 4">
            <a:extLst>
              <a:ext uri="{FF2B5EF4-FFF2-40B4-BE49-F238E27FC236}">
                <a16:creationId xmlns:a16="http://schemas.microsoft.com/office/drawing/2014/main" id="{783C4481-72E4-495B-8787-5042E815C05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74888" y="2905125"/>
            <a:ext cx="7772400" cy="1168400"/>
          </a:xfrm>
        </p:spPr>
        <p:txBody>
          <a:bodyPr anchor="ctr"/>
          <a:lstStyle/>
          <a:p>
            <a:pPr algn="l" eaLnBrk="1" hangingPunct="1"/>
            <a:br>
              <a:rPr lang="en-US" altLang="en-US" sz="3600" b="1" dirty="0">
                <a:solidFill>
                  <a:srgbClr val="FF0000"/>
                </a:solidFill>
              </a:rPr>
            </a:br>
            <a:r>
              <a:rPr lang="en-US" altLang="en-US" sz="3600" b="1" dirty="0">
                <a:solidFill>
                  <a:srgbClr val="FF0000"/>
                </a:solidFill>
              </a:rPr>
              <a:t>                </a:t>
            </a:r>
            <a:r>
              <a:rPr lang="en-US" altLang="en-US" sz="24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Lecture 5 </a:t>
            </a:r>
            <a:r>
              <a:rPr lang="en-US" altLang="en-US" sz="2400" b="1" i="1" dirty="0">
                <a:solidFill>
                  <a:srgbClr val="002060"/>
                </a:solidFill>
              </a:rPr>
              <a:t>Feature Engineering</a:t>
            </a:r>
            <a:endParaRPr lang="en-US" altLang="en-US" sz="2400" b="1" i="1" dirty="0">
              <a:solidFill>
                <a:srgbClr val="00206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00" name="Rectangle 7">
            <a:extLst>
              <a:ext uri="{FF2B5EF4-FFF2-40B4-BE49-F238E27FC236}">
                <a16:creationId xmlns:a16="http://schemas.microsoft.com/office/drawing/2014/main" id="{DA02E369-EE2B-4B42-809E-2826BB1FDBA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29895" y="3435927"/>
            <a:ext cx="7496175" cy="2249487"/>
          </a:xfrm>
        </p:spPr>
        <p:txBody>
          <a:bodyPr/>
          <a:lstStyle/>
          <a:p>
            <a:pPr eaLnBrk="1" hangingPunct="1">
              <a:defRPr/>
            </a:pPr>
            <a:endParaRPr lang="en-US" altLang="en-US" sz="36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defRPr/>
            </a:pPr>
            <a:r>
              <a:rPr lang="en-US" altLang="en-US" sz="3600" dirty="0"/>
              <a:t> 				   </a:t>
            </a:r>
            <a:r>
              <a:rPr lang="en-US" altLang="en-US" sz="20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Emdad Khan</a:t>
            </a:r>
          </a:p>
          <a:p>
            <a:pPr eaLnBrk="1" hangingPunct="1">
              <a:spcBef>
                <a:spcPct val="0"/>
              </a:spcBef>
              <a:buClrTx/>
              <a:defRPr/>
            </a:pPr>
            <a:r>
              <a:rPr lang="en-US" altLang="en-US" sz="20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	    ekhan@miu.edu </a:t>
            </a:r>
          </a:p>
          <a:p>
            <a:pPr eaLnBrk="1" hangingPunct="1">
              <a:spcBef>
                <a:spcPct val="0"/>
              </a:spcBef>
              <a:buClrTx/>
              <a:defRPr/>
            </a:pPr>
            <a:r>
              <a:rPr lang="en-US" altLang="en-US" sz="20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   Prof. Dept. of Computer Science</a:t>
            </a:r>
          </a:p>
          <a:p>
            <a:pPr eaLnBrk="1" hangingPunct="1">
              <a:spcBef>
                <a:spcPct val="0"/>
              </a:spcBef>
              <a:buClrTx/>
              <a:defRPr/>
            </a:pPr>
            <a:r>
              <a:rPr lang="en-US" altLang="en-US" sz="20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              Maharishi International University</a:t>
            </a:r>
          </a:p>
          <a:p>
            <a:pPr eaLnBrk="1" hangingPunct="1">
              <a:spcBef>
                <a:spcPct val="0"/>
              </a:spcBef>
              <a:buClrTx/>
              <a:defRPr/>
            </a:pPr>
            <a:r>
              <a:rPr lang="en-US" altLang="en-US" sz="20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	      May, 2023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2404DE-964A-49CD-A6AA-A87CF63CD98A}"/>
              </a:ext>
            </a:extLst>
          </p:cNvPr>
          <p:cNvSpPr/>
          <p:nvPr/>
        </p:nvSpPr>
        <p:spPr>
          <a:xfrm>
            <a:off x="2274888" y="782639"/>
            <a:ext cx="7637462" cy="20018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CS582</a:t>
            </a:r>
          </a:p>
          <a:p>
            <a:pPr algn="ctr" eaLnBrk="1" hangingPunct="1">
              <a:defRPr/>
            </a:pPr>
            <a:r>
              <a:rPr lang="en-US" altLang="en-US" sz="3200" b="1" dirty="0">
                <a:cs typeface="Times New Roman" panose="02020603050405020304" pitchFamily="18" charset="0"/>
              </a:rPr>
              <a:t>Machine Learning</a:t>
            </a:r>
            <a:r>
              <a:rPr lang="en-US" altLang="en-US" sz="3200" b="1" i="1" dirty="0">
                <a:cs typeface="Times New Roman" panose="02020603050405020304" pitchFamily="18" charset="0"/>
              </a:rPr>
              <a:t>: Getting Computers </a:t>
            </a:r>
          </a:p>
          <a:p>
            <a:pPr algn="ctr" eaLnBrk="1" hangingPunct="1">
              <a:defRPr/>
            </a:pPr>
            <a:r>
              <a:rPr lang="en-US" altLang="en-US" sz="3200" b="1" i="1" dirty="0">
                <a:cs typeface="Times New Roman" panose="02020603050405020304" pitchFamily="18" charset="0"/>
              </a:rPr>
              <a:t>to Program Themselves</a:t>
            </a:r>
          </a:p>
          <a:p>
            <a:pPr algn="ctr" eaLnBrk="1" hangingPunct="1">
              <a:defRPr/>
            </a:pPr>
            <a:r>
              <a:rPr lang="en-US" altLang="en-US" b="1" dirty="0">
                <a:solidFill>
                  <a:srgbClr val="002060"/>
                </a:solidFill>
                <a:cs typeface="Times New Roman" panose="02020603050405020304" pitchFamily="18" charset="0"/>
              </a:rPr>
              <a:t>“Discovering the Learning Dynamics of the</a:t>
            </a:r>
            <a:r>
              <a:rPr lang="en-US" altLang="en-US" sz="28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2060"/>
                </a:solidFill>
                <a:cs typeface="Times New Roman" panose="02020603050405020304" pitchFamily="18" charset="0"/>
              </a:rPr>
              <a:t>Laws of Nature</a:t>
            </a:r>
            <a:r>
              <a:rPr lang="en-US" altLang="en-US" sz="2800" b="1" dirty="0">
                <a:solidFill>
                  <a:srgbClr val="002060"/>
                </a:solidFill>
                <a:cs typeface="Times New Roman" panose="02020603050405020304" pitchFamily="18" charset="0"/>
              </a:rPr>
              <a:t>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B8019F93-C5A1-48E6-AFD3-D15B72FD9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CC00"/>
              </a:buClr>
              <a:buChar char="–"/>
              <a:defRPr sz="2800">
                <a:solidFill>
                  <a:srgbClr val="33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33CC"/>
              </a:buClr>
              <a:buChar char="•"/>
              <a:defRPr sz="2400">
                <a:solidFill>
                  <a:srgbClr val="0066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3333CC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E8AB9F-B610-44B6-A6D8-EEB8670B024A}" type="slidenum">
              <a:rPr lang="en-US" altLang="en-US" sz="1200">
                <a:latin typeface="Helvetica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85A1E2C-56F9-4835-A787-7894A33D4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                  </a:t>
            </a:r>
            <a:r>
              <a:rPr lang="en-US" altLang="en-US" b="1" dirty="0">
                <a:solidFill>
                  <a:srgbClr val="002060"/>
                </a:solidFill>
              </a:rPr>
              <a:t>What is Feature Engineering - 1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CF785F5-287C-45C7-A300-6D725E629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1"/>
            <a:ext cx="7772400" cy="50768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2060"/>
                </a:solidFill>
              </a:rPr>
              <a:t>Real world data collected from various sources are usually not nice and clean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/>
              <a:t>To ensure Machine Learning (ML) can learn from the data, we need to make sure that data are nice and clean, have good properties and such properties are </a:t>
            </a:r>
            <a:r>
              <a:rPr lang="en-US" altLang="en-US" sz="2800" b="1" dirty="0">
                <a:solidFill>
                  <a:srgbClr val="C00000"/>
                </a:solidFill>
              </a:rPr>
              <a:t>good for learning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2060"/>
                </a:solidFill>
              </a:rPr>
              <a:t>We also need to make sure that we provide enough number of good important features BUT not too many features </a:t>
            </a:r>
            <a:r>
              <a:rPr lang="en-US" altLang="en-US" sz="2800" dirty="0">
                <a:solidFill>
                  <a:srgbClr val="002060"/>
                </a:solidFill>
              </a:rPr>
              <a:t>(</a:t>
            </a:r>
            <a:r>
              <a:rPr lang="en-US" altLang="en-US" sz="2800" b="1" dirty="0">
                <a:solidFill>
                  <a:srgbClr val="C00000"/>
                </a:solidFill>
              </a:rPr>
              <a:t>refer to the Dimensionality reduction in last lecture</a:t>
            </a:r>
            <a:r>
              <a:rPr lang="en-US" altLang="en-US" sz="2800" dirty="0">
                <a:solidFill>
                  <a:srgbClr val="002060"/>
                </a:solidFill>
              </a:rPr>
              <a:t>)</a:t>
            </a:r>
          </a:p>
          <a:p>
            <a:pPr marL="50800" indent="0" eaLnBrk="1" hangingPunct="1">
              <a:lnSpc>
                <a:spcPct val="80000"/>
              </a:lnSpc>
              <a:buNone/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B8019F93-C5A1-48E6-AFD3-D15B72FD9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CC00"/>
              </a:buClr>
              <a:buChar char="–"/>
              <a:defRPr sz="2800">
                <a:solidFill>
                  <a:srgbClr val="33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33CC"/>
              </a:buClr>
              <a:buChar char="•"/>
              <a:defRPr sz="2400">
                <a:solidFill>
                  <a:srgbClr val="0066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3333CC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E8AB9F-B610-44B6-A6D8-EEB8670B024A}" type="slidenum">
              <a:rPr lang="en-US" altLang="en-US" sz="1200">
                <a:latin typeface="Helvetica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1200" dirty="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85A1E2C-56F9-4835-A787-7894A33D4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                     </a:t>
            </a:r>
            <a:r>
              <a:rPr lang="en-US" altLang="en-US" b="1" dirty="0">
                <a:solidFill>
                  <a:srgbClr val="002060"/>
                </a:solidFill>
              </a:rPr>
              <a:t>What is Feature Engineering - 2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CF785F5-287C-45C7-A300-6D725E629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2803" y="1263356"/>
            <a:ext cx="7772400" cy="50768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2060"/>
                </a:solidFill>
              </a:rPr>
              <a:t>Consider a ball which has diameter,  shape (e.g. round), weight and color.  These can be considered as features to learn about a ball.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</a:rPr>
              <a:t>Does ML need all these features to learn?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en-US" sz="2000" b="1" dirty="0">
                <a:solidFill>
                  <a:srgbClr val="C00000"/>
                </a:solidFill>
              </a:rPr>
              <a:t>Not necessarily – e.g. color and weight may not be needed!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2060"/>
                </a:solidFill>
              </a:rPr>
              <a:t>Can we use arc, edge as features?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en-US" sz="2000" b="1" i="1" dirty="0">
                <a:solidFill>
                  <a:srgbClr val="C00000"/>
                </a:solidFill>
              </a:rPr>
              <a:t>Probably, but will that be good?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v"/>
            </a:pPr>
            <a:r>
              <a:rPr lang="en-US" altLang="en-US" sz="2800" b="1" i="1" dirty="0">
                <a:solidFill>
                  <a:srgbClr val="00B050"/>
                </a:solidFill>
              </a:rPr>
              <a:t>Finding the correct type, form, format &amp;     number of features etc. is an example of Feature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6D5EF7FE-1FD7-07D8-0486-6B40EBE2F4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CC00"/>
              </a:buClr>
              <a:buChar char="–"/>
              <a:defRPr sz="2800">
                <a:solidFill>
                  <a:srgbClr val="33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33CC"/>
              </a:buClr>
              <a:buChar char="•"/>
              <a:defRPr sz="2400">
                <a:solidFill>
                  <a:srgbClr val="0066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3333CC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4710280-8BF8-4BEB-BFBB-F156C0FE8E8D}" type="slidenum">
              <a:rPr lang="en-US" altLang="en-US" sz="1200">
                <a:latin typeface="Helvetica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9381CC32-C3CE-50D3-95A7-14B14D78A4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320675"/>
            <a:ext cx="10801500" cy="1050926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</a:rPr>
              <a:t>Feature Engineering - A Simple Example 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5FAF9622-0D9B-BB30-D842-2297A40F1F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57745" y="1371601"/>
            <a:ext cx="9365673" cy="5076825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/>
              <a:t>Data on the left Fig. is hard to separate / classify. </a:t>
            </a:r>
          </a:p>
          <a:p>
            <a:pPr algn="just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/>
              <a:t>Data on the right Fig. is easy to classify after some Transformation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2800" dirty="0"/>
          </a:p>
          <a:p>
            <a:pPr marL="50800" indent="0" algn="just" eaLnBrk="1" hangingPunct="1">
              <a:lnSpc>
                <a:spcPct val="80000"/>
              </a:lnSpc>
              <a:buNone/>
            </a:pPr>
            <a:endParaRPr lang="en-US" altLang="en-US" sz="2800" dirty="0"/>
          </a:p>
          <a:p>
            <a:pPr marL="50800" indent="0" algn="just" eaLnBrk="1" hangingPunct="1">
              <a:lnSpc>
                <a:spcPct val="80000"/>
              </a:lnSpc>
              <a:buNone/>
            </a:pPr>
            <a:endParaRPr lang="en-US" altLang="en-US" sz="2800" dirty="0"/>
          </a:p>
          <a:p>
            <a:pPr algn="just" eaLnBrk="1" hangingPunct="1">
              <a:lnSpc>
                <a:spcPct val="80000"/>
              </a:lnSpc>
            </a:pPr>
            <a:endParaRPr lang="en-US" altLang="en-US" sz="2800" dirty="0"/>
          </a:p>
          <a:p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C00000"/>
                </a:solidFill>
              </a:rPr>
              <a:t>Transform data making it Easier to Interpret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E1EDE1-9D5B-891E-4C72-B8EF92DE3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582" y="2770909"/>
            <a:ext cx="7883236" cy="280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39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B8019F93-C5A1-48E6-AFD3-D15B72FD9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CC00"/>
              </a:buClr>
              <a:buChar char="–"/>
              <a:defRPr sz="2800">
                <a:solidFill>
                  <a:srgbClr val="33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33CC"/>
              </a:buClr>
              <a:buChar char="•"/>
              <a:defRPr sz="2400">
                <a:solidFill>
                  <a:srgbClr val="0066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3333CC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E8AB9F-B610-44B6-A6D8-EEB8670B024A}" type="slidenum">
              <a:rPr lang="en-US" altLang="en-US" sz="1200">
                <a:latin typeface="Helvetica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85A1E2C-56F9-4835-A787-7894A33D4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      </a:t>
            </a:r>
            <a:r>
              <a:rPr lang="en-US" altLang="en-US" b="1" dirty="0">
                <a:solidFill>
                  <a:srgbClr val="002060"/>
                </a:solidFill>
              </a:rPr>
              <a:t>Feature Engineering – More Formal Definition</a:t>
            </a:r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CF785F5-287C-45C7-A300-6D725E629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58731"/>
            <a:ext cx="7772400" cy="43405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Feature engineering is the ‘art’ of formulating useful features from existing data following the target to be learned and the machine learning model used. 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It involves transforming data to forms that better relate to the underlying target to be learned</a:t>
            </a:r>
            <a:r>
              <a:rPr lang="en-US" dirty="0"/>
              <a:t>.  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Good Feature engineering can augment the value of existing data and improve the performance of machine learning models.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On the other hand, using bad features may require to build much more complex models to achieve the same level of performance.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There is theoretical framework for Feature Engineering, which is why it has maintained its status as a concept that eludes many.</a:t>
            </a:r>
            <a:endParaRPr lang="en-US" altLang="en-US" sz="2800" b="1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4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B8019F93-C5A1-48E6-AFD3-D15B72FD9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CC00"/>
              </a:buClr>
              <a:buChar char="–"/>
              <a:defRPr sz="2800">
                <a:solidFill>
                  <a:srgbClr val="33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33CC"/>
              </a:buClr>
              <a:buChar char="•"/>
              <a:defRPr sz="2400">
                <a:solidFill>
                  <a:srgbClr val="0066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3333CC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E8AB9F-B610-44B6-A6D8-EEB8670B024A}" type="slidenum">
              <a:rPr lang="en-US" altLang="en-US" sz="1200">
                <a:latin typeface="Helvetica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85A1E2C-56F9-4835-A787-7894A33D4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      </a:t>
            </a:r>
            <a:r>
              <a:rPr lang="en-US" altLang="en-US" b="1" dirty="0">
                <a:solidFill>
                  <a:srgbClr val="002060"/>
                </a:solidFill>
              </a:rPr>
              <a:t>Feature Engineering – </a:t>
            </a:r>
            <a:r>
              <a:rPr lang="en-US" altLang="en-US" b="1" dirty="0">
                <a:solidFill>
                  <a:srgbClr val="C00000"/>
                </a:solidFill>
              </a:rPr>
              <a:t>In a Nutshell</a:t>
            </a:r>
            <a:endParaRPr lang="en-US" altLang="en-US" dirty="0">
              <a:solidFill>
                <a:srgbClr val="C00000"/>
              </a:solidFill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CF785F5-287C-45C7-A300-6D725E629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28454" y="1258731"/>
            <a:ext cx="7772400" cy="4340538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040C28"/>
              </a:solidFill>
              <a:latin typeface="Google Sans"/>
            </a:endParaRP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040C28"/>
                </a:solidFill>
                <a:latin typeface="Google Sans"/>
              </a:rPr>
              <a:t>Feature Engineering is the </a:t>
            </a:r>
            <a:r>
              <a:rPr lang="en-US" sz="3200" b="1" dirty="0">
                <a:solidFill>
                  <a:srgbClr val="C00000"/>
                </a:solidFill>
                <a:latin typeface="Google Sans"/>
              </a:rPr>
              <a:t>process of </a:t>
            </a:r>
            <a:r>
              <a:rPr lang="en-US" sz="3200" b="1" dirty="0">
                <a:solidFill>
                  <a:srgbClr val="040C28"/>
                </a:solidFill>
                <a:latin typeface="Google Sans"/>
              </a:rPr>
              <a:t>selecting, </a:t>
            </a:r>
            <a:r>
              <a:rPr lang="en-US" sz="3200" b="1" dirty="0">
                <a:solidFill>
                  <a:srgbClr val="002060"/>
                </a:solidFill>
                <a:latin typeface="Google Sans"/>
              </a:rPr>
              <a:t>transforming</a:t>
            </a:r>
            <a:r>
              <a:rPr lang="en-US" sz="3200" b="1" dirty="0">
                <a:solidFill>
                  <a:srgbClr val="040C28"/>
                </a:solidFill>
                <a:latin typeface="Google Sans"/>
              </a:rPr>
              <a:t>, extracting, </a:t>
            </a:r>
            <a:r>
              <a:rPr lang="en-US" sz="3200" b="1" dirty="0">
                <a:solidFill>
                  <a:srgbClr val="002060"/>
                </a:solidFill>
                <a:latin typeface="Google Sans"/>
              </a:rPr>
              <a:t>combining</a:t>
            </a:r>
            <a:r>
              <a:rPr lang="en-US" sz="3200" b="1" dirty="0">
                <a:solidFill>
                  <a:srgbClr val="040C28"/>
                </a:solidFill>
                <a:latin typeface="Google Sans"/>
              </a:rPr>
              <a:t>, and </a:t>
            </a:r>
            <a:r>
              <a:rPr lang="en-US" sz="3200" b="1" dirty="0">
                <a:solidFill>
                  <a:srgbClr val="C00000"/>
                </a:solidFill>
                <a:latin typeface="Google Sans"/>
              </a:rPr>
              <a:t>manipulating</a:t>
            </a:r>
            <a:r>
              <a:rPr lang="en-US" sz="3200" b="1" dirty="0">
                <a:solidFill>
                  <a:srgbClr val="040C28"/>
                </a:solidFill>
                <a:latin typeface="Google Sans"/>
              </a:rPr>
              <a:t> raw data to generate the </a:t>
            </a:r>
            <a:r>
              <a:rPr lang="en-US" sz="3200" b="1" dirty="0">
                <a:solidFill>
                  <a:srgbClr val="C00000"/>
                </a:solidFill>
                <a:latin typeface="Google Sans"/>
              </a:rPr>
              <a:t>desired variables </a:t>
            </a:r>
            <a:r>
              <a:rPr lang="en-US" sz="3200" b="1" dirty="0">
                <a:solidFill>
                  <a:srgbClr val="040C28"/>
                </a:solidFill>
                <a:latin typeface="Google Sans"/>
              </a:rPr>
              <a:t>for analysis or predictive modeling</a:t>
            </a:r>
            <a:r>
              <a:rPr lang="en-US" sz="3200" b="1" dirty="0">
                <a:solidFill>
                  <a:srgbClr val="202124"/>
                </a:solidFill>
                <a:latin typeface="Google Sans"/>
              </a:rPr>
              <a:t>. 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202124"/>
                </a:solidFill>
                <a:latin typeface="Google Sans"/>
              </a:rPr>
              <a:t>It is a </a:t>
            </a:r>
            <a:r>
              <a:rPr lang="en-US" sz="3200" b="1" dirty="0">
                <a:solidFill>
                  <a:srgbClr val="C00000"/>
                </a:solidFill>
                <a:latin typeface="Google Sans"/>
              </a:rPr>
              <a:t>crucial step </a:t>
            </a:r>
            <a:r>
              <a:rPr lang="en-US" sz="3200" b="1" dirty="0">
                <a:solidFill>
                  <a:srgbClr val="202124"/>
                </a:solidFill>
                <a:latin typeface="Google Sans"/>
              </a:rPr>
              <a:t>in developing a machine learning model</a:t>
            </a:r>
            <a:endParaRPr lang="en-US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98823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B8019F93-C5A1-48E6-AFD3-D15B72FD9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CC00"/>
              </a:buClr>
              <a:buChar char="–"/>
              <a:defRPr sz="2800">
                <a:solidFill>
                  <a:srgbClr val="33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33CC"/>
              </a:buClr>
              <a:buChar char="•"/>
              <a:defRPr sz="2400">
                <a:solidFill>
                  <a:srgbClr val="0066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3333CC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E8AB9F-B610-44B6-A6D8-EEB8670B024A}" type="slidenum">
              <a:rPr lang="en-US" altLang="en-US" sz="1200">
                <a:latin typeface="Helvetica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200" dirty="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85A1E2C-56F9-4835-A787-7894A33D4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</a:t>
            </a:r>
            <a:r>
              <a:rPr lang="en-US" altLang="en-US" b="1" dirty="0">
                <a:solidFill>
                  <a:srgbClr val="002060"/>
                </a:solidFill>
              </a:rPr>
              <a:t>Iterative Process of Feature Engineering - 1</a:t>
            </a:r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CF785F5-287C-45C7-A300-6D725E629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3877" y="1258731"/>
            <a:ext cx="9044246" cy="43405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Brainstorm features</a:t>
            </a:r>
            <a:r>
              <a:rPr lang="en-US" dirty="0">
                <a:solidFill>
                  <a:srgbClr val="002060"/>
                </a:solidFill>
              </a:rPr>
              <a:t>: Really get into the problem, look at a lot of data, study feature engineering on other problems and see what you can steal.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Devise features</a:t>
            </a:r>
            <a:r>
              <a:rPr lang="en-US" dirty="0"/>
              <a:t>: Depends on your problem, but you may use automatic feature extraction, manual feature construction and mixtures of the two.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Select features</a:t>
            </a:r>
            <a:r>
              <a:rPr lang="en-US" dirty="0">
                <a:solidFill>
                  <a:srgbClr val="002060"/>
                </a:solidFill>
              </a:rPr>
              <a:t>: Use different feature importance scorings and feature selection methods to prepare one or more “views” for your models to operate upon.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Evaluate models</a:t>
            </a:r>
            <a:r>
              <a:rPr lang="en-US" dirty="0"/>
              <a:t>: Estimate model accuracy on unseen data using the chosen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Iterate as appropriate</a:t>
            </a:r>
          </a:p>
        </p:txBody>
      </p:sp>
    </p:spTree>
    <p:extLst>
      <p:ext uri="{BB962C8B-B14F-4D97-AF65-F5344CB8AC3E}">
        <p14:creationId xmlns:p14="http://schemas.microsoft.com/office/powerpoint/2010/main" val="323615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6D5EF7FE-1FD7-07D8-0486-6B40EBE2F4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CC00"/>
              </a:buClr>
              <a:buChar char="–"/>
              <a:defRPr sz="2800">
                <a:solidFill>
                  <a:srgbClr val="33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33CC"/>
              </a:buClr>
              <a:buChar char="•"/>
              <a:defRPr sz="2400">
                <a:solidFill>
                  <a:srgbClr val="0066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3333CC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4710280-8BF8-4BEB-BFBB-F156C0FE8E8D}" type="slidenum">
              <a:rPr lang="en-US" altLang="en-US" sz="1200">
                <a:latin typeface="Helvetica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9381CC32-C3CE-50D3-95A7-14B14D78A4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320675"/>
            <a:ext cx="10801500" cy="1050926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2060"/>
                </a:solidFill>
              </a:rPr>
              <a:t> Iterative Process of Feature Engineering - 2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5FAF9622-0D9B-BB30-D842-2297A40F1F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57745" y="1371601"/>
            <a:ext cx="9365673" cy="5076825"/>
          </a:xfrm>
        </p:spPr>
        <p:txBody>
          <a:bodyPr/>
          <a:lstStyle/>
          <a:p>
            <a:pPr marL="50800" indent="0" algn="just" eaLnBrk="1" hangingPunct="1">
              <a:lnSpc>
                <a:spcPct val="80000"/>
              </a:lnSpc>
              <a:buNone/>
            </a:pPr>
            <a:r>
              <a:rPr lang="en-US" altLang="en-US" sz="2800" dirty="0"/>
              <a:t> 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2800" dirty="0"/>
          </a:p>
          <a:p>
            <a:pPr algn="just" eaLnBrk="1" hangingPunct="1">
              <a:lnSpc>
                <a:spcPct val="80000"/>
              </a:lnSpc>
            </a:pPr>
            <a:endParaRPr lang="en-US" altLang="en-US" sz="2800" dirty="0"/>
          </a:p>
          <a:p>
            <a:pPr algn="just" eaLnBrk="1" hangingPunct="1">
              <a:lnSpc>
                <a:spcPct val="80000"/>
              </a:lnSpc>
            </a:pPr>
            <a:endParaRPr lang="en-US" altLang="en-US" sz="2800" dirty="0"/>
          </a:p>
          <a:p>
            <a:pPr algn="just" eaLnBrk="1" hangingPunct="1">
              <a:lnSpc>
                <a:spcPct val="80000"/>
              </a:lnSpc>
            </a:pPr>
            <a:endParaRPr lang="en-US" altLang="en-US" sz="2800" dirty="0"/>
          </a:p>
          <a:p>
            <a:pPr algn="just" eaLnBrk="1" hangingPunct="1">
              <a:lnSpc>
                <a:spcPct val="80000"/>
              </a:lnSpc>
            </a:pPr>
            <a:endParaRPr lang="en-US" altLang="en-US" sz="2800" dirty="0"/>
          </a:p>
          <a:p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pic>
        <p:nvPicPr>
          <p:cNvPr id="2050" name="Picture 2" descr="What is Feature Engineering? Definition and FAQs | HEAVY.AI">
            <a:extLst>
              <a:ext uri="{FF2B5EF4-FFF2-40B4-BE49-F238E27FC236}">
                <a16:creationId xmlns:a16="http://schemas.microsoft.com/office/drawing/2014/main" id="{2ED75D2A-7B18-BDF6-4092-0B8DDEB7C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82" y="1593274"/>
            <a:ext cx="794385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B8019F93-C5A1-48E6-AFD3-D15B72FD9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CC00"/>
              </a:buClr>
              <a:buChar char="–"/>
              <a:defRPr sz="2800">
                <a:solidFill>
                  <a:srgbClr val="33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33CC"/>
              </a:buClr>
              <a:buChar char="•"/>
              <a:defRPr sz="2400">
                <a:solidFill>
                  <a:srgbClr val="0066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3333CC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E8AB9F-B610-44B6-A6D8-EEB8670B024A}" type="slidenum">
              <a:rPr lang="en-US" altLang="en-US" sz="1200">
                <a:latin typeface="Helvetica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85A1E2C-56F9-4835-A787-7894A33D4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      </a:t>
            </a:r>
            <a:r>
              <a:rPr lang="en-US" altLang="en-US" b="1" dirty="0">
                <a:solidFill>
                  <a:srgbClr val="002060"/>
                </a:solidFill>
              </a:rPr>
              <a:t>Feature Engineering – Major Types -1</a:t>
            </a:r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CF785F5-287C-45C7-A300-6D725E629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58731"/>
            <a:ext cx="7772400" cy="43405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Variable transformation - e.g. </a:t>
            </a:r>
            <a:r>
              <a:rPr lang="en-US" dirty="0"/>
              <a:t>normalizing skewed data. </a:t>
            </a:r>
            <a:r>
              <a:rPr lang="en-US" dirty="0">
                <a:solidFill>
                  <a:srgbClr val="C00000"/>
                </a:solidFill>
              </a:rPr>
              <a:t>One such popularly used transformation is the logarithmic transformation</a:t>
            </a:r>
            <a:r>
              <a:rPr lang="en-US" b="1" dirty="0">
                <a:solidFill>
                  <a:srgbClr val="C00000"/>
                </a:solidFill>
              </a:rPr>
              <a:t>. 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Feature scaling </a:t>
            </a:r>
            <a:r>
              <a:rPr lang="en-US" dirty="0">
                <a:solidFill>
                  <a:schemeClr val="tx1"/>
                </a:solidFill>
              </a:rPr>
              <a:t>- done owing to the sensitivity of some machine learning algorithms to the scale input values. Example -  Min-Max Scaling: </a:t>
            </a:r>
            <a:r>
              <a:rPr lang="en-US" dirty="0">
                <a:solidFill>
                  <a:srgbClr val="C00000"/>
                </a:solidFill>
              </a:rPr>
              <a:t>rescaling of all values in a feature in the range 0 to 1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Feature creation - </a:t>
            </a:r>
            <a:r>
              <a:rPr lang="en-US" dirty="0">
                <a:solidFill>
                  <a:schemeClr val="tx1"/>
                </a:solidFill>
              </a:rPr>
              <a:t>involves deriving new features from existing ones.  Can be done by  various mathematical operations. 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Examples in next slides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Features Splitting </a:t>
            </a:r>
            <a:r>
              <a:rPr lang="en-US" dirty="0"/>
              <a:t>-  this can improve the value of the features toward the target to be learned and allow more detailed observation - </a:t>
            </a:r>
            <a:r>
              <a:rPr lang="en-US" dirty="0">
                <a:solidFill>
                  <a:srgbClr val="C00000"/>
                </a:solidFill>
              </a:rPr>
              <a:t>Examples in next slides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800" b="1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80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B8019F93-C5A1-48E6-AFD3-D15B72FD9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CC00"/>
              </a:buClr>
              <a:buChar char="–"/>
              <a:defRPr sz="2800">
                <a:solidFill>
                  <a:srgbClr val="33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33CC"/>
              </a:buClr>
              <a:buChar char="•"/>
              <a:defRPr sz="2400">
                <a:solidFill>
                  <a:srgbClr val="0066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3333CC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E8AB9F-B610-44B6-A6D8-EEB8670B024A}" type="slidenum">
              <a:rPr lang="en-US" altLang="en-US" sz="1200">
                <a:latin typeface="Helvetica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85A1E2C-56F9-4835-A787-7894A33D4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2450" y="217340"/>
            <a:ext cx="10801500" cy="13257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      </a:t>
            </a:r>
            <a:r>
              <a:rPr lang="en-US" altLang="en-US" b="1" dirty="0">
                <a:solidFill>
                  <a:srgbClr val="002060"/>
                </a:solidFill>
              </a:rPr>
              <a:t>Feature Engineering – Major Types  - 2</a:t>
            </a:r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CF785F5-287C-45C7-A300-6D725E629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28553" y="1059225"/>
            <a:ext cx="8053647" cy="43405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Categorical encoding </a:t>
            </a:r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dirty="0"/>
              <a:t> encode categorical features (non-numerical features like names, heights in “tall”, “short” etc. into numerical values e.g. One Hot Encoding. </a:t>
            </a:r>
            <a:r>
              <a:rPr lang="en-US" dirty="0">
                <a:solidFill>
                  <a:srgbClr val="C00000"/>
                </a:solidFill>
              </a:rPr>
              <a:t>Examples in next slides 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Discretization - </a:t>
            </a:r>
            <a:r>
              <a:rPr lang="en-US" dirty="0"/>
              <a:t>involves essentially taking a set of values of data and grouping sets of them together in some logical fashion into bins (or buckets). </a:t>
            </a:r>
            <a:r>
              <a:rPr lang="en-US" dirty="0">
                <a:solidFill>
                  <a:srgbClr val="C00000"/>
                </a:solidFill>
              </a:rPr>
              <a:t>Examples in next slides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Imputation</a:t>
            </a:r>
            <a:r>
              <a:rPr lang="en-US" dirty="0"/>
              <a:t>  - </a:t>
            </a:r>
            <a:r>
              <a:rPr lang="en-US" dirty="0">
                <a:solidFill>
                  <a:srgbClr val="002060"/>
                </a:solidFill>
              </a:rPr>
              <a:t>deals with handling missing values in data. It supports both </a:t>
            </a:r>
            <a:r>
              <a:rPr lang="en-US" b="1" dirty="0">
                <a:solidFill>
                  <a:srgbClr val="002060"/>
                </a:solidFill>
              </a:rPr>
              <a:t>Categorical &amp; Numerical.  </a:t>
            </a:r>
            <a:r>
              <a:rPr lang="en-US" dirty="0">
                <a:solidFill>
                  <a:srgbClr val="002060"/>
                </a:solidFill>
              </a:rPr>
              <a:t>Missing values are generally replaced by the most commonly occurring value in other records.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Outliers – these are unusually high or low values in the dataset  meaning these are outside the range.  Outliers are handled </a:t>
            </a:r>
            <a:r>
              <a:rPr lang="en-US" b="1" dirty="0">
                <a:solidFill>
                  <a:srgbClr val="C00000"/>
                </a:solidFill>
              </a:rPr>
              <a:t>by removing or replacing with some typical values in the range.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800" b="1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70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A5E2-09DE-4655-B450-E5A5F3FB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Feature Types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2CD0A5-E022-42DD-8467-AACF9EE39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5310" y="1646375"/>
            <a:ext cx="2892972" cy="435133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600" b="1" dirty="0"/>
              <a:t>Binary Features</a:t>
            </a:r>
          </a:p>
          <a:p>
            <a:pPr lvl="1"/>
            <a:endParaRPr lang="en-US" dirty="0"/>
          </a:p>
          <a:p>
            <a:r>
              <a:rPr lang="en-US" sz="1800" dirty="0" err="1"/>
              <a:t>ContainsWord</a:t>
            </a:r>
            <a:r>
              <a:rPr lang="en-US" sz="1800" dirty="0"/>
              <a:t>(call)?</a:t>
            </a:r>
          </a:p>
          <a:p>
            <a:endParaRPr lang="en-US" sz="1800" dirty="0"/>
          </a:p>
          <a:p>
            <a:r>
              <a:rPr lang="en-US" sz="1800" dirty="0" err="1"/>
              <a:t>IsLongSMSMessage</a:t>
            </a:r>
            <a:r>
              <a:rPr lang="en-US" sz="1800" dirty="0"/>
              <a:t>?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Contains(*#)?</a:t>
            </a:r>
          </a:p>
          <a:p>
            <a:endParaRPr lang="en-US" sz="1800" dirty="0"/>
          </a:p>
          <a:p>
            <a:r>
              <a:rPr lang="en-US" sz="1800" dirty="0" err="1"/>
              <a:t>ContainsPunctuation</a:t>
            </a:r>
            <a:r>
              <a:rPr lang="en-US" sz="1800" dirty="0"/>
              <a:t>?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8B4441B-F54D-4FDA-A40E-E277FB0400E2}"/>
              </a:ext>
            </a:extLst>
          </p:cNvPr>
          <p:cNvSpPr txBox="1">
            <a:spLocks/>
          </p:cNvSpPr>
          <p:nvPr/>
        </p:nvSpPr>
        <p:spPr>
          <a:xfrm>
            <a:off x="8573718" y="1372032"/>
            <a:ext cx="289297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br>
              <a:rPr lang="en-US" dirty="0"/>
            </a:br>
            <a:r>
              <a:rPr lang="en-US" b="1" dirty="0"/>
              <a:t>Numeric Features</a:t>
            </a:r>
            <a:endParaRPr lang="en-US" dirty="0"/>
          </a:p>
          <a:p>
            <a:r>
              <a:rPr lang="en-US" sz="1800" dirty="0" err="1"/>
              <a:t>CountOfWord</a:t>
            </a:r>
            <a:r>
              <a:rPr lang="en-US" sz="1800" dirty="0"/>
              <a:t>(call)</a:t>
            </a:r>
          </a:p>
          <a:p>
            <a:endParaRPr lang="en-US" sz="1800" dirty="0"/>
          </a:p>
          <a:p>
            <a:r>
              <a:rPr lang="en-US" sz="1800" dirty="0" err="1"/>
              <a:t>MessageLength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 err="1"/>
              <a:t>FirstNumberInMessage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 err="1"/>
              <a:t>WritingGradeLevel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EAEBBC6-402B-4DC1-A127-48126C1B35C8}"/>
              </a:ext>
            </a:extLst>
          </p:cNvPr>
          <p:cNvSpPr txBox="1">
            <a:spLocks/>
          </p:cNvSpPr>
          <p:nvPr/>
        </p:nvSpPr>
        <p:spPr>
          <a:xfrm>
            <a:off x="4013200" y="1843088"/>
            <a:ext cx="4165600" cy="442633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00" b="1" dirty="0"/>
              <a:t>Categorical Features</a:t>
            </a:r>
            <a:br>
              <a:rPr lang="en-US" dirty="0"/>
            </a:b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r>
              <a:rPr lang="en-US" sz="2300" dirty="0" err="1"/>
              <a:t>FirstWordPOS</a:t>
            </a:r>
            <a:r>
              <a:rPr lang="en-US" sz="2300" dirty="0"/>
              <a:t> -&gt;</a:t>
            </a:r>
          </a:p>
          <a:p>
            <a:pPr marL="457200" lvl="1" indent="0">
              <a:buNone/>
            </a:pPr>
            <a:r>
              <a:rPr lang="en-US" sz="2300" dirty="0"/>
              <a:t>{ Verb, Noun, Other }</a:t>
            </a:r>
          </a:p>
          <a:p>
            <a:pPr marL="457200" lvl="1" indent="0">
              <a:buNone/>
            </a:pPr>
            <a:endParaRPr lang="en-US" sz="2300" dirty="0"/>
          </a:p>
          <a:p>
            <a:r>
              <a:rPr lang="en-US" sz="2300" dirty="0" err="1"/>
              <a:t>MessageLength</a:t>
            </a:r>
            <a:r>
              <a:rPr lang="en-US" sz="2300" dirty="0"/>
              <a:t> -&gt;</a:t>
            </a:r>
          </a:p>
          <a:p>
            <a:pPr marL="457200" lvl="1" indent="0">
              <a:buNone/>
            </a:pPr>
            <a:r>
              <a:rPr lang="en-US" sz="2300" dirty="0"/>
              <a:t>{ Short, Medium, Long, </a:t>
            </a:r>
            <a:r>
              <a:rPr lang="en-US" sz="2300" dirty="0" err="1"/>
              <a:t>VeryLong</a:t>
            </a:r>
            <a:r>
              <a:rPr lang="en-US" sz="2300" dirty="0"/>
              <a:t> }</a:t>
            </a:r>
          </a:p>
          <a:p>
            <a:pPr marL="457200" lvl="1" indent="0">
              <a:buNone/>
            </a:pPr>
            <a:endParaRPr lang="en-US" sz="2300" dirty="0"/>
          </a:p>
          <a:p>
            <a:r>
              <a:rPr lang="en-US" sz="2300" dirty="0" err="1"/>
              <a:t>TokenType</a:t>
            </a:r>
            <a:r>
              <a:rPr lang="en-US" sz="2300" dirty="0"/>
              <a:t> -&gt;</a:t>
            </a:r>
          </a:p>
          <a:p>
            <a:pPr marL="457200" lvl="1" indent="0">
              <a:buNone/>
            </a:pPr>
            <a:r>
              <a:rPr lang="en-US" sz="2300" dirty="0"/>
              <a:t>{ Number, URL, Word, Phone#, Unknown }</a:t>
            </a:r>
          </a:p>
          <a:p>
            <a:endParaRPr lang="en-US" sz="2300" dirty="0"/>
          </a:p>
          <a:p>
            <a:r>
              <a:rPr lang="en-US" sz="2300" dirty="0" err="1"/>
              <a:t>GrammarAnalysis</a:t>
            </a:r>
            <a:r>
              <a:rPr lang="en-US" sz="2300" dirty="0"/>
              <a:t> -&gt;</a:t>
            </a:r>
          </a:p>
          <a:p>
            <a:pPr lvl="1"/>
            <a:r>
              <a:rPr lang="en-US" sz="2300" dirty="0"/>
              <a:t>{ Fragment, </a:t>
            </a:r>
            <a:r>
              <a:rPr lang="en-US" sz="2300" dirty="0" err="1"/>
              <a:t>SimpleSentence</a:t>
            </a:r>
            <a:r>
              <a:rPr lang="en-US" sz="2300" dirty="0"/>
              <a:t>, </a:t>
            </a:r>
            <a:r>
              <a:rPr lang="en-US" sz="2300" dirty="0" err="1"/>
              <a:t>ComplexSentence</a:t>
            </a:r>
            <a:r>
              <a:rPr lang="en-US" sz="23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56029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B8019F93-C5A1-48E6-AFD3-D15B72FD9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CC00"/>
              </a:buClr>
              <a:buChar char="–"/>
              <a:defRPr sz="2800">
                <a:solidFill>
                  <a:srgbClr val="33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33CC"/>
              </a:buClr>
              <a:buChar char="•"/>
              <a:defRPr sz="2400">
                <a:solidFill>
                  <a:srgbClr val="0066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3333CC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E8AB9F-B610-44B6-A6D8-EEB8670B024A}" type="slidenum">
              <a:rPr lang="en-US" altLang="en-US" sz="1200">
                <a:latin typeface="Helvetica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85A1E2C-56F9-4835-A787-7894A33D4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      </a:t>
            </a:r>
            <a:r>
              <a:rPr lang="en-US" altLang="en-US" b="1" dirty="0">
                <a:solidFill>
                  <a:srgbClr val="002060"/>
                </a:solidFill>
              </a:rPr>
              <a:t>Feature Engineering – Examples</a:t>
            </a:r>
            <a:endParaRPr lang="en-US" altLang="en-US" dirty="0">
              <a:solidFill>
                <a:srgbClr val="002060"/>
              </a:solidFill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CF785F5-287C-45C7-A300-6D725E629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26178" y="1644626"/>
            <a:ext cx="7772400" cy="50768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b="1" i="1" dirty="0">
                <a:solidFill>
                  <a:srgbClr val="00B050"/>
                </a:solidFill>
              </a:rPr>
              <a:t>Three data columns from large table</a:t>
            </a: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16DAB566-C592-4152-AB67-68C7D2FBA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448" y="2443942"/>
            <a:ext cx="7065818" cy="423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1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B8019F93-C5A1-48E6-AFD3-D15B72FD9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00CC00"/>
              </a:buClr>
              <a:buChar char="–"/>
              <a:defRPr sz="2800">
                <a:solidFill>
                  <a:srgbClr val="33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3333CC"/>
              </a:buClr>
              <a:buChar char="•"/>
              <a:defRPr sz="2400">
                <a:solidFill>
                  <a:srgbClr val="0066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3333CC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Char char="»"/>
              <a:defRPr sz="2000">
                <a:solidFill>
                  <a:srgbClr val="0000CC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E8AB9F-B610-44B6-A6D8-EEB8670B024A}" type="slidenum">
              <a:rPr lang="en-US" altLang="en-US" sz="1200">
                <a:latin typeface="Helvetica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85A1E2C-56F9-4835-A787-7894A33D4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</a:t>
            </a:r>
            <a:r>
              <a:rPr lang="en-US" altLang="en-US" b="1" dirty="0">
                <a:solidFill>
                  <a:srgbClr val="002060"/>
                </a:solidFill>
              </a:rPr>
              <a:t>Feature Engineering – Examples</a:t>
            </a:r>
            <a:endParaRPr lang="en-US" altLang="en-US" dirty="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CF785F5-287C-45C7-A300-6D725E629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26178" y="1296606"/>
            <a:ext cx="7772400" cy="50768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b="1" i="1" dirty="0">
                <a:solidFill>
                  <a:srgbClr val="00B050"/>
                </a:solidFill>
              </a:rPr>
              <a:t>Date is broken in to 6 columns – helping to find more useful data with better formats e.g. year, month, day in separate columns…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274F3857-8021-4D27-B706-6E02D06C9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449" y="2382307"/>
            <a:ext cx="7772399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2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552450" y="320675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Methods to Create / Derive New Features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5E41A-3F9E-4D65-8451-40368E0F3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There are various methods for feature creation / derivation.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Broadly speaking these are classified as Linear and Non-linear </a:t>
            </a:r>
          </a:p>
        </p:txBody>
      </p:sp>
    </p:spTree>
    <p:extLst>
      <p:ext uri="{BB962C8B-B14F-4D97-AF65-F5344CB8AC3E}">
        <p14:creationId xmlns:p14="http://schemas.microsoft.com/office/powerpoint/2010/main" val="3412134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552450" y="320675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Methods to Create / Derive New Features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711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39" t="-2429" b="-106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8632984" y="2580481"/>
            <a:ext cx="3203400" cy="1371600"/>
          </a:xfrm>
          <a:prstGeom prst="wedgeRoundRectCallout">
            <a:avLst>
              <a:gd name="adj1" fmla="val -64850"/>
              <a:gd name="adj2" fmla="val -6249"/>
              <a:gd name="adj3" fmla="val 16667"/>
            </a:avLst>
          </a:prstGeom>
          <a:blipFill rotWithShape="1">
            <a:blip r:embed="rId4">
              <a:alphaModFix/>
            </a:blip>
            <a:stretch>
              <a:fillRect r="-683" b="-181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355758" y="3050380"/>
            <a:ext cx="2355533" cy="992188"/>
          </a:xfrm>
          <a:prstGeom prst="wedgeRoundRectCallout">
            <a:avLst>
              <a:gd name="adj1" fmla="val 60706"/>
              <a:gd name="adj2" fmla="val 13911"/>
              <a:gd name="adj3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Quantitative Continuous 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85710" y="2530031"/>
            <a:ext cx="5163312" cy="1797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552450" y="209554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Feature Functions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838200" y="1543402"/>
            <a:ext cx="10515600" cy="4711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lang="en-US" b="1" dirty="0"/>
              <a:t>Feature functions</a:t>
            </a: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 - </a:t>
            </a: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transform features into new features (linear model)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1110" y="274638"/>
            <a:ext cx="3225132" cy="112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/>
          <p:nvPr/>
        </p:nvSpPr>
        <p:spPr>
          <a:xfrm>
            <a:off x="3299849" y="2613309"/>
            <a:ext cx="2312017" cy="1628800"/>
          </a:xfrm>
          <a:custGeom>
            <a:avLst/>
            <a:gdLst/>
            <a:ahLst/>
            <a:cxnLst/>
            <a:rect l="l" t="t" r="r" b="b"/>
            <a:pathLst>
              <a:path w="3739274" h="2634292" extrusionOk="0">
                <a:moveTo>
                  <a:pt x="764836" y="1751736"/>
                </a:moveTo>
                <a:cubicBezTo>
                  <a:pt x="394295" y="1503713"/>
                  <a:pt x="-167493" y="568395"/>
                  <a:pt x="47660" y="353242"/>
                </a:cubicBezTo>
                <a:cubicBezTo>
                  <a:pt x="262813" y="138089"/>
                  <a:pt x="1565684" y="502653"/>
                  <a:pt x="2055754" y="460818"/>
                </a:cubicBezTo>
                <a:cubicBezTo>
                  <a:pt x="2545824" y="418983"/>
                  <a:pt x="2710177" y="-250382"/>
                  <a:pt x="2988083" y="102230"/>
                </a:cubicBezTo>
                <a:cubicBezTo>
                  <a:pt x="3265989" y="454842"/>
                  <a:pt x="3842718" y="2286630"/>
                  <a:pt x="3723189" y="2576489"/>
                </a:cubicBezTo>
                <a:cubicBezTo>
                  <a:pt x="3603660" y="2866348"/>
                  <a:pt x="2757989" y="1978842"/>
                  <a:pt x="2270907" y="1841383"/>
                </a:cubicBezTo>
                <a:cubicBezTo>
                  <a:pt x="1783825" y="1703924"/>
                  <a:pt x="1135377" y="1999759"/>
                  <a:pt x="764836" y="1751736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Domain</a:t>
            </a:r>
            <a:endParaRPr/>
          </a:p>
        </p:txBody>
      </p:sp>
      <p:grpSp>
        <p:nvGrpSpPr>
          <p:cNvPr id="109" name="Google Shape;109;p19"/>
          <p:cNvGrpSpPr/>
          <p:nvPr/>
        </p:nvGrpSpPr>
        <p:grpSpPr>
          <a:xfrm>
            <a:off x="6636370" y="2345740"/>
            <a:ext cx="2264490" cy="2146249"/>
            <a:chOff x="6941170" y="2345740"/>
            <a:chExt cx="2264490" cy="2146249"/>
          </a:xfrm>
        </p:grpSpPr>
        <p:cxnSp>
          <p:nvCxnSpPr>
            <p:cNvPr id="110" name="Google Shape;110;p19"/>
            <p:cNvCxnSpPr/>
            <p:nvPr/>
          </p:nvCxnSpPr>
          <p:spPr>
            <a:xfrm>
              <a:off x="7228246" y="3431009"/>
              <a:ext cx="1977414" cy="0"/>
            </a:xfrm>
            <a:prstGeom prst="straightConnector1">
              <a:avLst/>
            </a:prstGeom>
            <a:noFill/>
            <a:ln w="57150" cap="flat" cmpd="sng">
              <a:solidFill>
                <a:schemeClr val="accent6"/>
              </a:solidFill>
              <a:prstDash val="solid"/>
              <a:miter lim="800000"/>
              <a:headEnd type="stealth" w="med" len="med"/>
              <a:tailEnd type="triangle" w="med" len="med"/>
            </a:ln>
          </p:spPr>
        </p:cxnSp>
        <p:pic>
          <p:nvPicPr>
            <p:cNvPr id="111" name="Google Shape;111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946528" y="3578666"/>
              <a:ext cx="259132" cy="133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941170" y="3578666"/>
              <a:ext cx="463297" cy="13349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3" name="Google Shape;113;p19"/>
            <p:cNvCxnSpPr/>
            <p:nvPr/>
          </p:nvCxnSpPr>
          <p:spPr>
            <a:xfrm flipH="1">
              <a:off x="7725320" y="2907091"/>
              <a:ext cx="885790" cy="1166967"/>
            </a:xfrm>
            <a:prstGeom prst="straightConnector1">
              <a:avLst/>
            </a:prstGeom>
            <a:noFill/>
            <a:ln w="57150" cap="flat" cmpd="sng">
              <a:solidFill>
                <a:schemeClr val="accent6"/>
              </a:solidFill>
              <a:prstDash val="solid"/>
              <a:miter lim="800000"/>
              <a:headEnd type="stealth" w="med" len="med"/>
              <a:tailEnd type="triangle" w="med" len="med"/>
            </a:ln>
          </p:spPr>
        </p:cxnSp>
        <p:cxnSp>
          <p:nvCxnSpPr>
            <p:cNvPr id="114" name="Google Shape;114;p19"/>
            <p:cNvCxnSpPr/>
            <p:nvPr/>
          </p:nvCxnSpPr>
          <p:spPr>
            <a:xfrm>
              <a:off x="8216953" y="2555905"/>
              <a:ext cx="1" cy="1750206"/>
            </a:xfrm>
            <a:prstGeom prst="straightConnector1">
              <a:avLst/>
            </a:prstGeom>
            <a:noFill/>
            <a:ln w="57150" cap="flat" cmpd="sng">
              <a:solidFill>
                <a:schemeClr val="accent6"/>
              </a:solidFill>
              <a:prstDash val="solid"/>
              <a:miter lim="800000"/>
              <a:headEnd type="stealth" w="med" len="med"/>
              <a:tailEnd type="triangle" w="med" len="med"/>
            </a:ln>
          </p:spPr>
        </p:cxnSp>
        <p:pic>
          <p:nvPicPr>
            <p:cNvPr id="115" name="Google Shape;115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595754" y="4123339"/>
              <a:ext cx="358853" cy="184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341715" y="2767188"/>
              <a:ext cx="416637" cy="1200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95509" y="2345740"/>
              <a:ext cx="259132" cy="133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91344" y="4358497"/>
              <a:ext cx="463297" cy="1334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" name="Google Shape;119;p19"/>
          <p:cNvGrpSpPr/>
          <p:nvPr/>
        </p:nvGrpSpPr>
        <p:grpSpPr>
          <a:xfrm>
            <a:off x="5103056" y="2248819"/>
            <a:ext cx="2860156" cy="1042288"/>
            <a:chOff x="5103056" y="2248819"/>
            <a:chExt cx="2860156" cy="1042288"/>
          </a:xfrm>
        </p:grpSpPr>
        <p:sp>
          <p:nvSpPr>
            <p:cNvPr id="120" name="Google Shape;120;p19"/>
            <p:cNvSpPr/>
            <p:nvPr/>
          </p:nvSpPr>
          <p:spPr>
            <a:xfrm>
              <a:off x="5103056" y="2745928"/>
              <a:ext cx="2860156" cy="545179"/>
            </a:xfrm>
            <a:custGeom>
              <a:avLst/>
              <a:gdLst/>
              <a:ahLst/>
              <a:cxnLst/>
              <a:rect l="l" t="t" r="r" b="b"/>
              <a:pathLst>
                <a:path w="4177553" h="860919" extrusionOk="0">
                  <a:moveTo>
                    <a:pt x="0" y="860919"/>
                  </a:moveTo>
                  <a:cubicBezTo>
                    <a:pt x="781423" y="439577"/>
                    <a:pt x="1562847" y="18236"/>
                    <a:pt x="2259106" y="307"/>
                  </a:cubicBezTo>
                  <a:cubicBezTo>
                    <a:pt x="2955365" y="-17622"/>
                    <a:pt x="4177553" y="753342"/>
                    <a:pt x="4177553" y="753342"/>
                  </a:cubicBezTo>
                </a:path>
              </a:pathLst>
            </a:custGeom>
            <a:noFill/>
            <a:ln w="38100" cap="flat" cmpd="sng">
              <a:solidFill>
                <a:srgbClr val="0C0C0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entury Gothic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121" name="Google Shape;121;p1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533134" y="2248819"/>
              <a:ext cx="254000" cy="4191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22" name="Google Shape;122;p19"/>
          <p:cNvGraphicFramePr/>
          <p:nvPr/>
        </p:nvGraphicFramePr>
        <p:xfrm>
          <a:off x="556974" y="4615076"/>
          <a:ext cx="4346550" cy="1841775"/>
        </p:xfrm>
        <a:graphic>
          <a:graphicData uri="http://schemas.openxmlformats.org/drawingml/2006/table">
            <a:tbl>
              <a:tblPr firstRow="1" bandRow="1">
                <a:noFill/>
                <a:tableStyleId>{57258FED-AADA-4DB0-9438-5AACDB22A84A}</a:tableStyleId>
              </a:tblPr>
              <a:tblGrid>
                <a:gridCol w="48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uid</a:t>
                      </a:r>
                      <a:endParaRPr sz="14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age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state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hasBought</a:t>
                      </a:r>
                      <a:endParaRPr sz="14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review</a:t>
                      </a:r>
                      <a:endParaRPr/>
                    </a:p>
                  </a:txBody>
                  <a:tcPr marL="73550" marR="73550" marT="36775" marB="367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32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NY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True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”Meh.”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42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50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WA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True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”Worked out of the box …”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57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16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NULL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“Hella tots lit...”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3" name="Google Shape;123;p19"/>
          <p:cNvGraphicFramePr/>
          <p:nvPr/>
        </p:nvGraphicFramePr>
        <p:xfrm>
          <a:off x="6361273" y="4991087"/>
          <a:ext cx="5474950" cy="1575545"/>
        </p:xfrm>
        <a:graphic>
          <a:graphicData uri="http://schemas.openxmlformats.org/drawingml/2006/table">
            <a:tbl>
              <a:tblPr firstRow="1" bandRow="1">
                <a:noFill/>
                <a:tableStyleId>{BB243067-6389-4ADA-9A5E-092C50FB3A3F}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AK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…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NY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…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WY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age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age^2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hasBought missing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US" sz="1600"/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US" sz="1600"/>
                        <a:t>…</a:t>
                      </a:r>
                      <a:endParaRPr sz="16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32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32^2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50^2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16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16^2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4" name="Google Shape;124;p19"/>
          <p:cNvSpPr txBox="1"/>
          <p:nvPr/>
        </p:nvSpPr>
        <p:spPr>
          <a:xfrm>
            <a:off x="6269746" y="4651934"/>
            <a:ext cx="51667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Entirely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Quantitative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Transformed</a:t>
            </a: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Values</a:t>
            </a:r>
            <a:endParaRPr/>
          </a:p>
        </p:txBody>
      </p:sp>
      <p:grpSp>
        <p:nvGrpSpPr>
          <p:cNvPr id="125" name="Google Shape;125;p19"/>
          <p:cNvGrpSpPr/>
          <p:nvPr/>
        </p:nvGrpSpPr>
        <p:grpSpPr>
          <a:xfrm>
            <a:off x="763031" y="2952061"/>
            <a:ext cx="2376391" cy="461665"/>
            <a:chOff x="781389" y="3202790"/>
            <a:chExt cx="2376391" cy="461665"/>
          </a:xfrm>
        </p:grpSpPr>
        <p:pic>
          <p:nvPicPr>
            <p:cNvPr id="126" name="Google Shape;126;p1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81389" y="3261441"/>
              <a:ext cx="399542" cy="338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19"/>
            <p:cNvSpPr txBox="1"/>
            <p:nvPr/>
          </p:nvSpPr>
          <p:spPr>
            <a:xfrm>
              <a:off x="1278739" y="3202790"/>
              <a:ext cx="187904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entury Gothic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DataFrame</a:t>
              </a:r>
              <a:endParaRPr sz="2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128" name="Google Shape;128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93878" y="5716939"/>
            <a:ext cx="215900" cy="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>
            <a:off x="5319064" y="5525332"/>
            <a:ext cx="657468" cy="1641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47518" y="2738680"/>
            <a:ext cx="2556510" cy="47498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/>
          <p:nvPr/>
        </p:nvSpPr>
        <p:spPr>
          <a:xfrm>
            <a:off x="9158449" y="3597701"/>
            <a:ext cx="2896295" cy="908506"/>
          </a:xfrm>
          <a:prstGeom prst="wedgeRoundRectCallout">
            <a:avLst>
              <a:gd name="adj1" fmla="val 14497"/>
              <a:gd name="adj2" fmla="val -97511"/>
              <a:gd name="adj3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Different number</a:t>
            </a:r>
            <a:br>
              <a:rPr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features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552450" y="209554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Feature Functions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137" name="Google Shape;137;p20"/>
          <p:cNvSpPr txBox="1">
            <a:spLocks noGrp="1"/>
          </p:cNvSpPr>
          <p:nvPr>
            <p:ph type="body" idx="1"/>
          </p:nvPr>
        </p:nvSpPr>
        <p:spPr>
          <a:xfrm>
            <a:off x="838200" y="1543402"/>
            <a:ext cx="10515600" cy="47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100"/>
              </a:spcAft>
              <a:buNone/>
            </a:pPr>
            <a:r>
              <a:rPr lang="en-US" b="1" dirty="0"/>
              <a:t>Feature functions</a:t>
            </a: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transform features into new features (nonlinear)</a:t>
            </a:r>
            <a:endParaRPr b="1" dirty="0"/>
          </a:p>
        </p:txBody>
      </p:sp>
      <p:pic>
        <p:nvPicPr>
          <p:cNvPr id="138" name="Google Shape;13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1223" y="2230674"/>
            <a:ext cx="4836129" cy="16840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/>
          <p:nvPr/>
        </p:nvSpPr>
        <p:spPr>
          <a:xfrm>
            <a:off x="3333608" y="4571538"/>
            <a:ext cx="2312017" cy="1628800"/>
          </a:xfrm>
          <a:custGeom>
            <a:avLst/>
            <a:gdLst/>
            <a:ahLst/>
            <a:cxnLst/>
            <a:rect l="l" t="t" r="r" b="b"/>
            <a:pathLst>
              <a:path w="3739274" h="2634292" extrusionOk="0">
                <a:moveTo>
                  <a:pt x="764836" y="1751736"/>
                </a:moveTo>
                <a:cubicBezTo>
                  <a:pt x="394295" y="1503713"/>
                  <a:pt x="-167493" y="568395"/>
                  <a:pt x="47660" y="353242"/>
                </a:cubicBezTo>
                <a:cubicBezTo>
                  <a:pt x="262813" y="138089"/>
                  <a:pt x="1565684" y="502653"/>
                  <a:pt x="2055754" y="460818"/>
                </a:cubicBezTo>
                <a:cubicBezTo>
                  <a:pt x="2545824" y="418983"/>
                  <a:pt x="2710177" y="-250382"/>
                  <a:pt x="2988083" y="102230"/>
                </a:cubicBezTo>
                <a:cubicBezTo>
                  <a:pt x="3265989" y="454842"/>
                  <a:pt x="3842718" y="2286630"/>
                  <a:pt x="3723189" y="2576489"/>
                </a:cubicBezTo>
                <a:cubicBezTo>
                  <a:pt x="3603660" y="2866348"/>
                  <a:pt x="2757989" y="1978842"/>
                  <a:pt x="2270907" y="1841383"/>
                </a:cubicBezTo>
                <a:cubicBezTo>
                  <a:pt x="1783825" y="1703924"/>
                  <a:pt x="1135377" y="1999759"/>
                  <a:pt x="764836" y="1751736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Domain</a:t>
            </a:r>
            <a:endParaRPr/>
          </a:p>
        </p:txBody>
      </p:sp>
      <p:grpSp>
        <p:nvGrpSpPr>
          <p:cNvPr id="140" name="Google Shape;140;p20"/>
          <p:cNvGrpSpPr/>
          <p:nvPr/>
        </p:nvGrpSpPr>
        <p:grpSpPr>
          <a:xfrm>
            <a:off x="6974929" y="4303969"/>
            <a:ext cx="2264490" cy="2146249"/>
            <a:chOff x="6941170" y="2345740"/>
            <a:chExt cx="2264490" cy="2146249"/>
          </a:xfrm>
        </p:grpSpPr>
        <p:cxnSp>
          <p:nvCxnSpPr>
            <p:cNvPr id="141" name="Google Shape;141;p20"/>
            <p:cNvCxnSpPr/>
            <p:nvPr/>
          </p:nvCxnSpPr>
          <p:spPr>
            <a:xfrm>
              <a:off x="7228246" y="3431009"/>
              <a:ext cx="1977414" cy="0"/>
            </a:xfrm>
            <a:prstGeom prst="straightConnector1">
              <a:avLst/>
            </a:prstGeom>
            <a:noFill/>
            <a:ln w="57150" cap="flat" cmpd="sng">
              <a:solidFill>
                <a:schemeClr val="accent6"/>
              </a:solidFill>
              <a:prstDash val="solid"/>
              <a:miter lim="800000"/>
              <a:headEnd type="stealth" w="med" len="med"/>
              <a:tailEnd type="triangle" w="med" len="med"/>
            </a:ln>
          </p:spPr>
        </p:cxnSp>
        <p:pic>
          <p:nvPicPr>
            <p:cNvPr id="142" name="Google Shape;142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946528" y="3578666"/>
              <a:ext cx="259132" cy="133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941170" y="3578666"/>
              <a:ext cx="463297" cy="13349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4" name="Google Shape;144;p20"/>
            <p:cNvCxnSpPr/>
            <p:nvPr/>
          </p:nvCxnSpPr>
          <p:spPr>
            <a:xfrm flipH="1">
              <a:off x="7725320" y="2907091"/>
              <a:ext cx="885790" cy="1166967"/>
            </a:xfrm>
            <a:prstGeom prst="straightConnector1">
              <a:avLst/>
            </a:prstGeom>
            <a:noFill/>
            <a:ln w="57150" cap="flat" cmpd="sng">
              <a:solidFill>
                <a:schemeClr val="accent6"/>
              </a:solidFill>
              <a:prstDash val="solid"/>
              <a:miter lim="800000"/>
              <a:headEnd type="stealth" w="med" len="med"/>
              <a:tailEnd type="triangle" w="med" len="med"/>
            </a:ln>
          </p:spPr>
        </p:cxnSp>
        <p:cxnSp>
          <p:nvCxnSpPr>
            <p:cNvPr id="145" name="Google Shape;145;p20"/>
            <p:cNvCxnSpPr/>
            <p:nvPr/>
          </p:nvCxnSpPr>
          <p:spPr>
            <a:xfrm>
              <a:off x="8216953" y="2555905"/>
              <a:ext cx="1" cy="1750206"/>
            </a:xfrm>
            <a:prstGeom prst="straightConnector1">
              <a:avLst/>
            </a:prstGeom>
            <a:noFill/>
            <a:ln w="57150" cap="flat" cmpd="sng">
              <a:solidFill>
                <a:schemeClr val="accent6"/>
              </a:solidFill>
              <a:prstDash val="solid"/>
              <a:miter lim="800000"/>
              <a:headEnd type="stealth" w="med" len="med"/>
              <a:tailEnd type="triangle" w="med" len="med"/>
            </a:ln>
          </p:spPr>
        </p:cxnSp>
        <p:pic>
          <p:nvPicPr>
            <p:cNvPr id="146" name="Google Shape;146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595754" y="4123339"/>
              <a:ext cx="358853" cy="184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341715" y="2767188"/>
              <a:ext cx="416637" cy="1200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95509" y="2345740"/>
              <a:ext cx="259132" cy="133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91344" y="4358497"/>
              <a:ext cx="463297" cy="1334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" name="Google Shape;150;p20"/>
          <p:cNvGrpSpPr/>
          <p:nvPr/>
        </p:nvGrpSpPr>
        <p:grpSpPr>
          <a:xfrm>
            <a:off x="5136815" y="4207048"/>
            <a:ext cx="2860156" cy="1042288"/>
            <a:chOff x="5103056" y="2248819"/>
            <a:chExt cx="2860156" cy="1042288"/>
          </a:xfrm>
        </p:grpSpPr>
        <p:sp>
          <p:nvSpPr>
            <p:cNvPr id="151" name="Google Shape;151;p20"/>
            <p:cNvSpPr/>
            <p:nvPr/>
          </p:nvSpPr>
          <p:spPr>
            <a:xfrm>
              <a:off x="5103056" y="2745928"/>
              <a:ext cx="2860156" cy="545179"/>
            </a:xfrm>
            <a:custGeom>
              <a:avLst/>
              <a:gdLst/>
              <a:ahLst/>
              <a:cxnLst/>
              <a:rect l="l" t="t" r="r" b="b"/>
              <a:pathLst>
                <a:path w="4177553" h="860919" extrusionOk="0">
                  <a:moveTo>
                    <a:pt x="0" y="860919"/>
                  </a:moveTo>
                  <a:cubicBezTo>
                    <a:pt x="781423" y="439577"/>
                    <a:pt x="1562847" y="18236"/>
                    <a:pt x="2259106" y="307"/>
                  </a:cubicBezTo>
                  <a:cubicBezTo>
                    <a:pt x="2955365" y="-17622"/>
                    <a:pt x="4177553" y="753342"/>
                    <a:pt x="4177553" y="753342"/>
                  </a:cubicBezTo>
                </a:path>
              </a:pathLst>
            </a:custGeom>
            <a:noFill/>
            <a:ln w="38100" cap="flat" cmpd="sng">
              <a:solidFill>
                <a:srgbClr val="0C0C0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entury Gothic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152" name="Google Shape;152;p2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533134" y="2248819"/>
              <a:ext cx="254000" cy="4191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53" name="Google Shape;153;p20"/>
          <p:cNvGraphicFramePr/>
          <p:nvPr/>
        </p:nvGraphicFramePr>
        <p:xfrm>
          <a:off x="556974" y="7353599"/>
          <a:ext cx="4346550" cy="1841775"/>
        </p:xfrm>
        <a:graphic>
          <a:graphicData uri="http://schemas.openxmlformats.org/drawingml/2006/table">
            <a:tbl>
              <a:tblPr firstRow="1" bandRow="1">
                <a:noFill/>
                <a:tableStyleId>{57258FED-AADA-4DB0-9438-5AACDB22A84A}</a:tableStyleId>
              </a:tblPr>
              <a:tblGrid>
                <a:gridCol w="48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uid</a:t>
                      </a:r>
                      <a:endParaRPr sz="14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age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state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hasBought</a:t>
                      </a:r>
                      <a:endParaRPr sz="14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review</a:t>
                      </a:r>
                      <a:endParaRPr/>
                    </a:p>
                  </a:txBody>
                  <a:tcPr marL="73550" marR="73550" marT="36775" marB="367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32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NY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True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”Meh.”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42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50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WA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True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”Worked out of the box …”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57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16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NULL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“Hella tots lit...”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4" name="Google Shape;154;p20"/>
          <p:cNvGraphicFramePr/>
          <p:nvPr/>
        </p:nvGraphicFramePr>
        <p:xfrm>
          <a:off x="6361273" y="7729610"/>
          <a:ext cx="5474950" cy="1575545"/>
        </p:xfrm>
        <a:graphic>
          <a:graphicData uri="http://schemas.openxmlformats.org/drawingml/2006/table">
            <a:tbl>
              <a:tblPr firstRow="1" bandRow="1">
                <a:noFill/>
                <a:tableStyleId>{BB243067-6389-4ADA-9A5E-092C50FB3A3F}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AK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…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NY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…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WY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age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age^2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hasBought missing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US" sz="1600"/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US" sz="1600"/>
                        <a:t>…</a:t>
                      </a:r>
                      <a:endParaRPr sz="16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32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32^2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50^2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16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16^2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5" name="Google Shape;155;p20"/>
          <p:cNvSpPr txBox="1"/>
          <p:nvPr/>
        </p:nvSpPr>
        <p:spPr>
          <a:xfrm>
            <a:off x="6269746" y="7390457"/>
            <a:ext cx="51667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Entirely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Quantitative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Transformed</a:t>
            </a: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Values</a:t>
            </a:r>
            <a:endParaRPr/>
          </a:p>
        </p:txBody>
      </p:sp>
      <p:grpSp>
        <p:nvGrpSpPr>
          <p:cNvPr id="156" name="Google Shape;156;p20"/>
          <p:cNvGrpSpPr/>
          <p:nvPr/>
        </p:nvGrpSpPr>
        <p:grpSpPr>
          <a:xfrm>
            <a:off x="796790" y="4910290"/>
            <a:ext cx="2376391" cy="461665"/>
            <a:chOff x="781389" y="3202790"/>
            <a:chExt cx="2376391" cy="461665"/>
          </a:xfrm>
        </p:grpSpPr>
        <p:pic>
          <p:nvPicPr>
            <p:cNvPr id="157" name="Google Shape;157;p2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81389" y="3261441"/>
              <a:ext cx="399542" cy="338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20"/>
            <p:cNvSpPr txBox="1"/>
            <p:nvPr/>
          </p:nvSpPr>
          <p:spPr>
            <a:xfrm>
              <a:off x="1278739" y="3202790"/>
              <a:ext cx="187904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entury Gothic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DataFrame</a:t>
              </a:r>
              <a:endParaRPr sz="2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159" name="Google Shape;159;p2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93878" y="8455462"/>
            <a:ext cx="215900" cy="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/>
          <p:nvPr/>
        </p:nvSpPr>
        <p:spPr>
          <a:xfrm>
            <a:off x="5319064" y="8263855"/>
            <a:ext cx="657468" cy="1641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89625" y="2727159"/>
            <a:ext cx="1813306" cy="63004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62" name="Google Shape;162;p20"/>
          <p:cNvSpPr/>
          <p:nvPr/>
        </p:nvSpPr>
        <p:spPr>
          <a:xfrm>
            <a:off x="7880374" y="2341412"/>
            <a:ext cx="2896295" cy="663095"/>
          </a:xfrm>
          <a:prstGeom prst="wedgeRoundRectCallout">
            <a:avLst>
              <a:gd name="adj1" fmla="val -89237"/>
              <a:gd name="adj2" fmla="val -6448"/>
              <a:gd name="adj3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(phi)ture function</a:t>
            </a:r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54708" y="4591796"/>
            <a:ext cx="2556510" cy="47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109884" y="2197081"/>
            <a:ext cx="328467" cy="3941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13157006" y="3942167"/>
            <a:ext cx="10668053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Designing the feature functions is a big part of machine learning and data science.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endParaRPr sz="2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Feature Functions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capture domain knowledge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substantial contribute to expressivity (and complexity)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>
            <a:spLocks noGrp="1"/>
          </p:cNvSpPr>
          <p:nvPr>
            <p:ph type="title"/>
          </p:nvPr>
        </p:nvSpPr>
        <p:spPr>
          <a:xfrm>
            <a:off x="552450" y="100699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Feature Functions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171" name="Google Shape;171;p21"/>
          <p:cNvSpPr txBox="1">
            <a:spLocks noGrp="1"/>
          </p:cNvSpPr>
          <p:nvPr>
            <p:ph type="body" idx="1"/>
          </p:nvPr>
        </p:nvSpPr>
        <p:spPr>
          <a:xfrm>
            <a:off x="838200" y="1434547"/>
            <a:ext cx="10515600" cy="4711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/>
              <a:t>Feature functions</a:t>
            </a:r>
            <a:r>
              <a:rPr lang="en-US">
                <a:latin typeface="Roboto Light"/>
                <a:ea typeface="Roboto Light"/>
                <a:cs typeface="Roboto Light"/>
                <a:sym typeface="Roboto Light"/>
              </a:rPr>
              <a:t> transform features into new features.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b="1"/>
          </a:p>
        </p:txBody>
      </p:sp>
      <p:pic>
        <p:nvPicPr>
          <p:cNvPr id="172" name="Google Shape;17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1223" y="2056506"/>
            <a:ext cx="4836128" cy="168400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/>
          <p:nvPr/>
        </p:nvSpPr>
        <p:spPr>
          <a:xfrm>
            <a:off x="-9642163" y="4571538"/>
            <a:ext cx="2312017" cy="1628800"/>
          </a:xfrm>
          <a:custGeom>
            <a:avLst/>
            <a:gdLst/>
            <a:ahLst/>
            <a:cxnLst/>
            <a:rect l="l" t="t" r="r" b="b"/>
            <a:pathLst>
              <a:path w="3739274" h="2634292" extrusionOk="0">
                <a:moveTo>
                  <a:pt x="764836" y="1751736"/>
                </a:moveTo>
                <a:cubicBezTo>
                  <a:pt x="394295" y="1503713"/>
                  <a:pt x="-167493" y="568395"/>
                  <a:pt x="47660" y="353242"/>
                </a:cubicBezTo>
                <a:cubicBezTo>
                  <a:pt x="262813" y="138089"/>
                  <a:pt x="1565684" y="502653"/>
                  <a:pt x="2055754" y="460818"/>
                </a:cubicBezTo>
                <a:cubicBezTo>
                  <a:pt x="2545824" y="418983"/>
                  <a:pt x="2710177" y="-250382"/>
                  <a:pt x="2988083" y="102230"/>
                </a:cubicBezTo>
                <a:cubicBezTo>
                  <a:pt x="3265989" y="454842"/>
                  <a:pt x="3842718" y="2286630"/>
                  <a:pt x="3723189" y="2576489"/>
                </a:cubicBezTo>
                <a:cubicBezTo>
                  <a:pt x="3603660" y="2866348"/>
                  <a:pt x="2757989" y="1978842"/>
                  <a:pt x="2270907" y="1841383"/>
                </a:cubicBezTo>
                <a:cubicBezTo>
                  <a:pt x="1783825" y="1703924"/>
                  <a:pt x="1135377" y="1999759"/>
                  <a:pt x="764836" y="1751736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Domain</a:t>
            </a:r>
            <a:endParaRPr/>
          </a:p>
        </p:txBody>
      </p:sp>
      <p:grpSp>
        <p:nvGrpSpPr>
          <p:cNvPr id="174" name="Google Shape;174;p21"/>
          <p:cNvGrpSpPr/>
          <p:nvPr/>
        </p:nvGrpSpPr>
        <p:grpSpPr>
          <a:xfrm>
            <a:off x="-6000841" y="4303969"/>
            <a:ext cx="2264490" cy="2146249"/>
            <a:chOff x="6941170" y="2345740"/>
            <a:chExt cx="2264490" cy="2146249"/>
          </a:xfrm>
        </p:grpSpPr>
        <p:cxnSp>
          <p:nvCxnSpPr>
            <p:cNvPr id="175" name="Google Shape;175;p21"/>
            <p:cNvCxnSpPr/>
            <p:nvPr/>
          </p:nvCxnSpPr>
          <p:spPr>
            <a:xfrm>
              <a:off x="7228246" y="3431009"/>
              <a:ext cx="1977414" cy="0"/>
            </a:xfrm>
            <a:prstGeom prst="straightConnector1">
              <a:avLst/>
            </a:prstGeom>
            <a:noFill/>
            <a:ln w="57150" cap="flat" cmpd="sng">
              <a:solidFill>
                <a:schemeClr val="accent6"/>
              </a:solidFill>
              <a:prstDash val="solid"/>
              <a:miter lim="800000"/>
              <a:headEnd type="stealth" w="med" len="med"/>
              <a:tailEnd type="triangle" w="med" len="med"/>
            </a:ln>
          </p:spPr>
        </p:cxnSp>
        <p:pic>
          <p:nvPicPr>
            <p:cNvPr id="176" name="Google Shape;176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946528" y="3578666"/>
              <a:ext cx="259132" cy="133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941170" y="3578666"/>
              <a:ext cx="463297" cy="13349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8" name="Google Shape;178;p21"/>
            <p:cNvCxnSpPr/>
            <p:nvPr/>
          </p:nvCxnSpPr>
          <p:spPr>
            <a:xfrm flipH="1">
              <a:off x="7725320" y="2907091"/>
              <a:ext cx="885790" cy="1166967"/>
            </a:xfrm>
            <a:prstGeom prst="straightConnector1">
              <a:avLst/>
            </a:prstGeom>
            <a:noFill/>
            <a:ln w="57150" cap="flat" cmpd="sng">
              <a:solidFill>
                <a:schemeClr val="accent6"/>
              </a:solidFill>
              <a:prstDash val="solid"/>
              <a:miter lim="800000"/>
              <a:headEnd type="stealth" w="med" len="med"/>
              <a:tailEnd type="triangle" w="med" len="med"/>
            </a:ln>
          </p:spPr>
        </p:cxnSp>
        <p:cxnSp>
          <p:nvCxnSpPr>
            <p:cNvPr id="179" name="Google Shape;179;p21"/>
            <p:cNvCxnSpPr/>
            <p:nvPr/>
          </p:nvCxnSpPr>
          <p:spPr>
            <a:xfrm>
              <a:off x="8216953" y="2555905"/>
              <a:ext cx="1" cy="1750206"/>
            </a:xfrm>
            <a:prstGeom prst="straightConnector1">
              <a:avLst/>
            </a:prstGeom>
            <a:noFill/>
            <a:ln w="57150" cap="flat" cmpd="sng">
              <a:solidFill>
                <a:schemeClr val="accent6"/>
              </a:solidFill>
              <a:prstDash val="solid"/>
              <a:miter lim="800000"/>
              <a:headEnd type="stealth" w="med" len="med"/>
              <a:tailEnd type="triangle" w="med" len="med"/>
            </a:ln>
          </p:spPr>
        </p:cxnSp>
        <p:pic>
          <p:nvPicPr>
            <p:cNvPr id="180" name="Google Shape;180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595754" y="4123339"/>
              <a:ext cx="358853" cy="184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341715" y="2767188"/>
              <a:ext cx="416637" cy="1200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95509" y="2345740"/>
              <a:ext cx="259132" cy="133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91344" y="4358497"/>
              <a:ext cx="463297" cy="1334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21"/>
          <p:cNvGrpSpPr/>
          <p:nvPr/>
        </p:nvGrpSpPr>
        <p:grpSpPr>
          <a:xfrm>
            <a:off x="-7838956" y="4207048"/>
            <a:ext cx="2860156" cy="1042288"/>
            <a:chOff x="5103056" y="2248819"/>
            <a:chExt cx="2860156" cy="1042288"/>
          </a:xfrm>
        </p:grpSpPr>
        <p:sp>
          <p:nvSpPr>
            <p:cNvPr id="185" name="Google Shape;185;p21"/>
            <p:cNvSpPr/>
            <p:nvPr/>
          </p:nvSpPr>
          <p:spPr>
            <a:xfrm>
              <a:off x="5103056" y="2745928"/>
              <a:ext cx="2860156" cy="545179"/>
            </a:xfrm>
            <a:custGeom>
              <a:avLst/>
              <a:gdLst/>
              <a:ahLst/>
              <a:cxnLst/>
              <a:rect l="l" t="t" r="r" b="b"/>
              <a:pathLst>
                <a:path w="4177553" h="860919" extrusionOk="0">
                  <a:moveTo>
                    <a:pt x="0" y="860919"/>
                  </a:moveTo>
                  <a:cubicBezTo>
                    <a:pt x="781423" y="439577"/>
                    <a:pt x="1562847" y="18236"/>
                    <a:pt x="2259106" y="307"/>
                  </a:cubicBezTo>
                  <a:cubicBezTo>
                    <a:pt x="2955365" y="-17622"/>
                    <a:pt x="4177553" y="753342"/>
                    <a:pt x="4177553" y="753342"/>
                  </a:cubicBezTo>
                </a:path>
              </a:pathLst>
            </a:custGeom>
            <a:noFill/>
            <a:ln w="38100" cap="flat" cmpd="sng">
              <a:solidFill>
                <a:srgbClr val="0C0C0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entury Gothic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186" name="Google Shape;186;p2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533134" y="2248819"/>
              <a:ext cx="254000" cy="4191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87" name="Google Shape;187;p21"/>
          <p:cNvGraphicFramePr/>
          <p:nvPr/>
        </p:nvGraphicFramePr>
        <p:xfrm>
          <a:off x="556974" y="7353599"/>
          <a:ext cx="4346550" cy="1841775"/>
        </p:xfrm>
        <a:graphic>
          <a:graphicData uri="http://schemas.openxmlformats.org/drawingml/2006/table">
            <a:tbl>
              <a:tblPr firstRow="1" bandRow="1">
                <a:noFill/>
                <a:tableStyleId>{57258FED-AADA-4DB0-9438-5AACDB22A84A}</a:tableStyleId>
              </a:tblPr>
              <a:tblGrid>
                <a:gridCol w="48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uid</a:t>
                      </a:r>
                      <a:endParaRPr sz="14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age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state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hasBought</a:t>
                      </a:r>
                      <a:endParaRPr sz="14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review</a:t>
                      </a:r>
                      <a:endParaRPr/>
                    </a:p>
                  </a:txBody>
                  <a:tcPr marL="73550" marR="73550" marT="36775" marB="367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32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NY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True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”Meh.”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42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50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WA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True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”Worked out of the box …”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57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16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NULL</a:t>
                      </a:r>
                      <a:endParaRPr/>
                    </a:p>
                  </a:txBody>
                  <a:tcPr marL="73550" marR="73550" marT="36775" marB="36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“Hella tots lit...”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550" marR="73550" marT="36775" marB="367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8" name="Google Shape;188;p21"/>
          <p:cNvGraphicFramePr/>
          <p:nvPr/>
        </p:nvGraphicFramePr>
        <p:xfrm>
          <a:off x="6361273" y="7729610"/>
          <a:ext cx="5474950" cy="1575545"/>
        </p:xfrm>
        <a:graphic>
          <a:graphicData uri="http://schemas.openxmlformats.org/drawingml/2006/table">
            <a:tbl>
              <a:tblPr firstRow="1" bandRow="1">
                <a:noFill/>
                <a:tableStyleId>{BB243067-6389-4ADA-9A5E-092C50FB3A3F}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AK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…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NY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…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WY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age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age^2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hasBought missing</a:t>
                      </a:r>
                      <a:endParaRPr sz="1400" b="1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US" sz="1600"/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US" sz="1600"/>
                        <a:t>…</a:t>
                      </a:r>
                      <a:endParaRPr sz="16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32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32^2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50^2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…</a:t>
                      </a:r>
                      <a:endParaRPr sz="16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16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16^2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9" name="Google Shape;189;p21"/>
          <p:cNvSpPr txBox="1"/>
          <p:nvPr/>
        </p:nvSpPr>
        <p:spPr>
          <a:xfrm>
            <a:off x="6269746" y="7390457"/>
            <a:ext cx="51667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Entirely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Quantitative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Transformed</a:t>
            </a:r>
            <a:r>
              <a:rPr lang="en-US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Values</a:t>
            </a:r>
            <a:endParaRPr/>
          </a:p>
        </p:txBody>
      </p:sp>
      <p:grpSp>
        <p:nvGrpSpPr>
          <p:cNvPr id="190" name="Google Shape;190;p21"/>
          <p:cNvGrpSpPr/>
          <p:nvPr/>
        </p:nvGrpSpPr>
        <p:grpSpPr>
          <a:xfrm>
            <a:off x="-12178981" y="4910290"/>
            <a:ext cx="2376391" cy="461665"/>
            <a:chOff x="781389" y="3202790"/>
            <a:chExt cx="2376391" cy="461665"/>
          </a:xfrm>
        </p:grpSpPr>
        <p:pic>
          <p:nvPicPr>
            <p:cNvPr id="191" name="Google Shape;191;p2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81389" y="3261441"/>
              <a:ext cx="399542" cy="338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21"/>
            <p:cNvSpPr txBox="1"/>
            <p:nvPr/>
          </p:nvSpPr>
          <p:spPr>
            <a:xfrm>
              <a:off x="1278739" y="3202790"/>
              <a:ext cx="187904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entury Gothic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DataFrame</a:t>
              </a:r>
              <a:endParaRPr sz="24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193" name="Google Shape;193;p2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93878" y="8455462"/>
            <a:ext cx="215900" cy="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/>
          <p:nvPr/>
        </p:nvSpPr>
        <p:spPr>
          <a:xfrm>
            <a:off x="5319064" y="8263855"/>
            <a:ext cx="657468" cy="1641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89625" y="2552991"/>
            <a:ext cx="1813306" cy="63004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96" name="Google Shape;196;p21"/>
          <p:cNvSpPr/>
          <p:nvPr/>
        </p:nvSpPr>
        <p:spPr>
          <a:xfrm>
            <a:off x="7880374" y="2167244"/>
            <a:ext cx="2896295" cy="663095"/>
          </a:xfrm>
          <a:prstGeom prst="wedgeRoundRectCallout">
            <a:avLst>
              <a:gd name="adj1" fmla="val -89237"/>
              <a:gd name="adj2" fmla="val -6448"/>
              <a:gd name="adj3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(phi)ture function</a:t>
            </a:r>
            <a:endParaRPr/>
          </a:p>
        </p:txBody>
      </p:sp>
      <p:pic>
        <p:nvPicPr>
          <p:cNvPr id="197" name="Google Shape;197;p2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3821063" y="4591796"/>
            <a:ext cx="2556510" cy="47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109884" y="2022913"/>
            <a:ext cx="328467" cy="3941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498926" y="3920396"/>
            <a:ext cx="10668053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lang="en-US" sz="2800" i="0" u="none" strike="noStrike" cap="none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Designing feature functions is a big part of machine learning and data science.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endParaRPr sz="2800" i="0" u="none" strike="noStrike" cap="none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entury Gothic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Feature Functions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Light"/>
              <a:buChar char="●"/>
            </a:pPr>
            <a:r>
              <a:rPr lang="en-US" sz="2800" i="0" u="none" strike="noStrike" cap="none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capture domain knowledge.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Light"/>
              <a:buChar char="●"/>
            </a:pPr>
            <a:r>
              <a:rPr lang="en-US" sz="2800" i="0" u="none" strike="noStrike" cap="none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substantial contribute to expressivity (and complexity).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2060"/>
                </a:solidFill>
              </a:rPr>
              <a:t>Feature Engineering – </a:t>
            </a:r>
            <a:r>
              <a:rPr lang="en-US" b="1" dirty="0">
                <a:solidFill>
                  <a:srgbClr val="C00000"/>
                </a:solidFill>
              </a:rPr>
              <a:t>Focus on Domain Knowledge and Relationships</a:t>
            </a:r>
            <a:endParaRPr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/>
          <p:nvPr/>
        </p:nvSpPr>
        <p:spPr>
          <a:xfrm>
            <a:off x="2397783" y="3262746"/>
            <a:ext cx="1272208" cy="1603513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p23"/>
          <p:cNvSpPr txBox="1">
            <a:spLocks noGrp="1"/>
          </p:cNvSpPr>
          <p:nvPr>
            <p:ph type="title"/>
          </p:nvPr>
        </p:nvSpPr>
        <p:spPr>
          <a:xfrm>
            <a:off x="552450" y="320675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The Constant Feature Function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213" name="Google Shape;213;p23"/>
          <p:cNvSpPr txBox="1">
            <a:spLocks noGrp="1"/>
          </p:cNvSpPr>
          <p:nvPr>
            <p:ph type="body" idx="1"/>
          </p:nvPr>
        </p:nvSpPr>
        <p:spPr>
          <a:xfrm>
            <a:off x="838200" y="1873125"/>
            <a:ext cx="10515600" cy="4800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By adding </a:t>
            </a:r>
            <a:r>
              <a:rPr lang="en-US" b="1" dirty="0"/>
              <a:t>the all 1s column</a:t>
            </a: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 to our original data we were already introducing a feature function.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265113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dirty="0"/>
          </a:p>
          <a:p>
            <a:pPr marL="457200" lvl="0" indent="-265113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dirty="0"/>
          </a:p>
          <a:p>
            <a:pPr marL="457200" lvl="0" indent="-265113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442913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Char char="●"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Sometimes this feature and it’s parameter are called: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431800" algn="l" rtl="0">
              <a:lnSpc>
                <a:spcPct val="90000"/>
              </a:lnSpc>
              <a:spcBef>
                <a:spcPts val="500"/>
              </a:spcBef>
              <a:spcAft>
                <a:spcPts val="1100"/>
              </a:spcAft>
              <a:buClr>
                <a:schemeClr val="dk1"/>
              </a:buClr>
              <a:buSzPts val="2000"/>
              <a:buChar char="○"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Constant feature, offset, intercept, </a:t>
            </a:r>
            <a:r>
              <a:rPr lang="en-US" b="1" dirty="0"/>
              <a:t>bias</a:t>
            </a: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14" name="Google Shape;21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6510" y="3717565"/>
            <a:ext cx="733618" cy="70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500" y="3137376"/>
            <a:ext cx="449976" cy="742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2070917" y="3879836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2889361" y="2942858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endParaRPr/>
          </a:p>
        </p:txBody>
      </p:sp>
      <p:cxnSp>
        <p:nvCxnSpPr>
          <p:cNvPr id="218" name="Google Shape;218;p23"/>
          <p:cNvCxnSpPr/>
          <p:nvPr/>
        </p:nvCxnSpPr>
        <p:spPr>
          <a:xfrm>
            <a:off x="4359985" y="4139598"/>
            <a:ext cx="2210858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9" name="Google Shape;219;p23"/>
          <p:cNvSpPr/>
          <p:nvPr/>
        </p:nvSpPr>
        <p:spPr>
          <a:xfrm>
            <a:off x="7782582" y="3337841"/>
            <a:ext cx="1272208" cy="1603513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1309" y="3792660"/>
            <a:ext cx="733618" cy="70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6993133" y="4006099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8186000" y="2895825"/>
            <a:ext cx="93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 = p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7326314" y="3337841"/>
            <a:ext cx="366241" cy="1603513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…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7413031" y="2889236"/>
            <a:ext cx="7729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    + 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8431298" y="2898777"/>
            <a:ext cx="54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6936316" y="3262746"/>
            <a:ext cx="2440243" cy="1867452"/>
          </a:xfrm>
          <a:prstGeom prst="bracketPair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2005513" y="3154892"/>
            <a:ext cx="2000499" cy="1867452"/>
          </a:xfrm>
          <a:prstGeom prst="bracketPair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8" name="Google Shape;228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19973" y="3832950"/>
            <a:ext cx="1227208" cy="51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>
            <a:spLocks noGrp="1"/>
          </p:cNvSpPr>
          <p:nvPr>
            <p:ph type="title"/>
          </p:nvPr>
        </p:nvSpPr>
        <p:spPr>
          <a:xfrm>
            <a:off x="552450" y="320675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Modeling Non-linear Relationships</a:t>
            </a:r>
            <a:endParaRPr b="1" dirty="0">
              <a:solidFill>
                <a:srgbClr val="002060"/>
              </a:solidFill>
            </a:endParaRPr>
          </a:p>
        </p:txBody>
      </p:sp>
      <p:pic>
        <p:nvPicPr>
          <p:cNvPr id="234" name="Google Shape;234;p24" descr="A close up of a map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53595" y="1646238"/>
            <a:ext cx="5100205" cy="4371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2314" y="1822141"/>
            <a:ext cx="5540811" cy="1214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2514" y="3954461"/>
            <a:ext cx="41148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528517" y="3264955"/>
            <a:ext cx="287450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Feature Functions: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3510394" y="4297024"/>
            <a:ext cx="2973533" cy="1223159"/>
          </a:xfrm>
          <a:prstGeom prst="wedgeRoundRectCallout">
            <a:avLst>
              <a:gd name="adj1" fmla="val -26823"/>
              <a:gd name="adj2" fmla="val 69296"/>
              <a:gd name="adj3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 that feature functions don’t depend on parameters.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 txBox="1">
            <a:spLocks noGrp="1"/>
          </p:cNvSpPr>
          <p:nvPr>
            <p:ph type="title"/>
          </p:nvPr>
        </p:nvSpPr>
        <p:spPr>
          <a:xfrm>
            <a:off x="552450" y="320675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dirty="0"/>
              <a:t>Focusing on Relationships between Features</a:t>
            </a:r>
            <a:endParaRPr dirty="0"/>
          </a:p>
        </p:txBody>
      </p:sp>
      <p:sp>
        <p:nvSpPr>
          <p:cNvPr id="244" name="Google Shape;244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Char char="●"/>
            </a:pPr>
            <a:r>
              <a:rPr lang="en-US" b="1" dirty="0">
                <a:solidFill>
                  <a:srgbClr val="002060"/>
                </a:solidFill>
                <a:latin typeface="Roboto Light"/>
                <a:ea typeface="Roboto Light"/>
                <a:cs typeface="Roboto Light"/>
                <a:sym typeface="Roboto Light"/>
              </a:rPr>
              <a:t>The process of transforming the raw data to improve the accuracy of models.</a:t>
            </a:r>
            <a:endParaRPr b="1" dirty="0">
              <a:solidFill>
                <a:srgbClr val="00206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A key focus in many applications of data science.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Char char="●"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Light"/>
              <a:buChar char="●"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Feature Engineering enables you to: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b="1" dirty="0"/>
              <a:t>capture domain knowledge</a:t>
            </a: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 (</a:t>
            </a:r>
            <a:r>
              <a:rPr lang="en-US" b="1" i="1" dirty="0">
                <a:solidFill>
                  <a:srgbClr val="C00000"/>
                </a:solidFill>
                <a:latin typeface="Roboto Light"/>
                <a:ea typeface="Roboto Light"/>
                <a:cs typeface="Roboto Light"/>
                <a:sym typeface="Roboto Light"/>
              </a:rPr>
              <a:t>e.g., periodicity or relationships between features</a:t>
            </a: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).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b="1" dirty="0"/>
              <a:t>express non-linear relationships</a:t>
            </a: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using linear models.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b="1" dirty="0"/>
              <a:t>encode non-numeric features</a:t>
            </a: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-US" b="1" i="1" dirty="0">
                <a:solidFill>
                  <a:srgbClr val="C00000"/>
                </a:solidFill>
                <a:latin typeface="Roboto Light"/>
                <a:ea typeface="Roboto Light"/>
                <a:cs typeface="Roboto Light"/>
                <a:sym typeface="Roboto Light"/>
              </a:rPr>
              <a:t>to be used as inputs to models</a:t>
            </a:r>
            <a:r>
              <a:rPr lang="en-US" b="1" i="1" dirty="0"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b="1" i="1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2060"/>
                </a:solidFill>
              </a:rPr>
              <a:t>Encoding categorical and text features</a:t>
            </a:r>
            <a:endParaRPr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>
            <a:spLocks noGrp="1"/>
          </p:cNvSpPr>
          <p:nvPr>
            <p:ph type="title"/>
          </p:nvPr>
        </p:nvSpPr>
        <p:spPr>
          <a:xfrm>
            <a:off x="365629" y="0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 sz="4000" b="1" dirty="0">
                <a:solidFill>
                  <a:srgbClr val="002060"/>
                </a:solidFill>
              </a:rPr>
              <a:t>Encoding Categorical and Text Features</a:t>
            </a:r>
            <a:endParaRPr b="1" dirty="0">
              <a:solidFill>
                <a:srgbClr val="002060"/>
              </a:solidFill>
            </a:endParaRPr>
          </a:p>
        </p:txBody>
      </p:sp>
      <p:graphicFrame>
        <p:nvGraphicFramePr>
          <p:cNvPr id="257" name="Google Shape;257;p27"/>
          <p:cNvGraphicFramePr/>
          <p:nvPr/>
        </p:nvGraphicFramePr>
        <p:xfrm>
          <a:off x="1118928" y="3739429"/>
          <a:ext cx="8728975" cy="2542345"/>
        </p:xfrm>
        <a:graphic>
          <a:graphicData uri="http://schemas.openxmlformats.org/drawingml/2006/table">
            <a:tbl>
              <a:tblPr firstRow="1" bandRow="1">
                <a:noFill/>
                <a:tableStyleId>{57258FED-AADA-4DB0-9438-5AACDB22A84A}</a:tableStyleId>
              </a:tblPr>
              <a:tblGrid>
                <a:gridCol w="97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3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uid</a:t>
                      </a:r>
                      <a:endParaRPr sz="2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age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hasBought</a:t>
                      </a:r>
                      <a:endParaRPr sz="2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review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”Meh.”</a:t>
                      </a:r>
                      <a:endParaRPr sz="24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”Worked out of the box …”</a:t>
                      </a:r>
                      <a:endParaRPr sz="24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NULL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“Hella tots lit yo ...”</a:t>
                      </a:r>
                      <a:endParaRPr sz="24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8" name="Google Shape;258;p27"/>
          <p:cNvGraphicFramePr/>
          <p:nvPr/>
        </p:nvGraphicFramePr>
        <p:xfrm>
          <a:off x="9975802" y="3739429"/>
          <a:ext cx="1275000" cy="2609600"/>
        </p:xfrm>
        <a:graphic>
          <a:graphicData uri="http://schemas.openxmlformats.org/drawingml/2006/table">
            <a:tbl>
              <a:tblPr firstRow="1" bandRow="1">
                <a:noFill/>
                <a:tableStyleId>{57258FED-AADA-4DB0-9438-5AACDB22A84A}</a:tableStyleId>
              </a:tblPr>
              <a:tblGrid>
                <a:gridCol w="12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rating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2.0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FBE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4.5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D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4.1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FBE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9" name="Google Shape;259;p27"/>
          <p:cNvSpPr txBox="1"/>
          <p:nvPr/>
        </p:nvSpPr>
        <p:spPr>
          <a:xfrm>
            <a:off x="466584" y="2539978"/>
            <a:ext cx="849463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</a:pPr>
            <a:r>
              <a:rPr lang="en-US" sz="24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What if </a:t>
            </a:r>
            <a:r>
              <a:rPr lang="en-US" sz="36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US" sz="24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is a record with numbers, text, booleans, e</a:t>
            </a:r>
            <a:r>
              <a:rPr lang="en-US" sz="2400">
                <a:latin typeface="Roboto Light"/>
                <a:ea typeface="Roboto Light"/>
                <a:cs typeface="Roboto Light"/>
                <a:sym typeface="Roboto Light"/>
              </a:rPr>
              <a:t>tc...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5158445" y="3094769"/>
            <a:ext cx="4972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entury Gothic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/>
          </a:p>
        </p:txBody>
      </p:sp>
      <p:sp>
        <p:nvSpPr>
          <p:cNvPr id="261" name="Google Shape;261;p27"/>
          <p:cNvSpPr txBox="1"/>
          <p:nvPr/>
        </p:nvSpPr>
        <p:spPr>
          <a:xfrm>
            <a:off x="10364677" y="3094769"/>
            <a:ext cx="4972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entury Gothic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/>
          </a:p>
        </p:txBody>
      </p:sp>
      <p:pic>
        <p:nvPicPr>
          <p:cNvPr id="262" name="Google Shape;26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4037" y="1167483"/>
            <a:ext cx="4914900" cy="1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>
            <a:spLocks noGrp="1"/>
          </p:cNvSpPr>
          <p:nvPr>
            <p:ph type="title"/>
          </p:nvPr>
        </p:nvSpPr>
        <p:spPr>
          <a:xfrm>
            <a:off x="424542" y="210982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Predict rating from review information</a:t>
            </a:r>
            <a:endParaRPr b="1" dirty="0">
              <a:solidFill>
                <a:srgbClr val="002060"/>
              </a:solidFill>
            </a:endParaRPr>
          </a:p>
        </p:txBody>
      </p:sp>
      <p:graphicFrame>
        <p:nvGraphicFramePr>
          <p:cNvPr id="268" name="Google Shape;268;p28"/>
          <p:cNvGraphicFramePr/>
          <p:nvPr/>
        </p:nvGraphicFramePr>
        <p:xfrm>
          <a:off x="1094015" y="1782165"/>
          <a:ext cx="8728975" cy="2542345"/>
        </p:xfrm>
        <a:graphic>
          <a:graphicData uri="http://schemas.openxmlformats.org/drawingml/2006/table">
            <a:tbl>
              <a:tblPr firstRow="1" bandRow="1">
                <a:noFill/>
                <a:tableStyleId>{57258FED-AADA-4DB0-9438-5AACDB22A84A}</a:tableStyleId>
              </a:tblPr>
              <a:tblGrid>
                <a:gridCol w="97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3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uid</a:t>
                      </a:r>
                      <a:endParaRPr sz="2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age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hasBought</a:t>
                      </a:r>
                      <a:endParaRPr sz="2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review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”Meh.”</a:t>
                      </a:r>
                      <a:endParaRPr sz="24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”Worked out of the box …”</a:t>
                      </a:r>
                      <a:endParaRPr sz="24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NULL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“Hella tots lit yo ...”</a:t>
                      </a:r>
                      <a:endParaRPr sz="24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9" name="Google Shape;269;p28"/>
          <p:cNvSpPr txBox="1"/>
          <p:nvPr/>
        </p:nvSpPr>
        <p:spPr>
          <a:xfrm>
            <a:off x="657444" y="4913199"/>
            <a:ext cx="105913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RatingsData(uid INTEGER, age FLOAT,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  state STRING, hasBought BOOLEAN,          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review STRING, rating FLOAT)</a:t>
            </a:r>
            <a:endParaRPr/>
          </a:p>
        </p:txBody>
      </p:sp>
      <p:sp>
        <p:nvSpPr>
          <p:cNvPr id="270" name="Google Shape;270;p28"/>
          <p:cNvSpPr txBox="1"/>
          <p:nvPr/>
        </p:nvSpPr>
        <p:spPr>
          <a:xfrm>
            <a:off x="335903" y="4543867"/>
            <a:ext cx="11785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Schema: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271" name="Google Shape;271;p28"/>
          <p:cNvGraphicFramePr/>
          <p:nvPr/>
        </p:nvGraphicFramePr>
        <p:xfrm>
          <a:off x="9950889" y="1782165"/>
          <a:ext cx="1275000" cy="2609600"/>
        </p:xfrm>
        <a:graphic>
          <a:graphicData uri="http://schemas.openxmlformats.org/drawingml/2006/table">
            <a:tbl>
              <a:tblPr firstRow="1" bandRow="1">
                <a:noFill/>
                <a:tableStyleId>{57258FED-AADA-4DB0-9438-5AACDB22A84A}</a:tableStyleId>
              </a:tblPr>
              <a:tblGrid>
                <a:gridCol w="12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rating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2.0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FBE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4.5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D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4.1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FBE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 txBox="1">
            <a:spLocks noGrp="1"/>
          </p:cNvSpPr>
          <p:nvPr>
            <p:ph type="title"/>
          </p:nvPr>
        </p:nvSpPr>
        <p:spPr>
          <a:xfrm>
            <a:off x="552450" y="195215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As a Linear Model?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277" name="Google Shape;277;p29"/>
          <p:cNvSpPr txBox="1">
            <a:spLocks noGrp="1"/>
          </p:cNvSpPr>
          <p:nvPr>
            <p:ph type="body" idx="1"/>
          </p:nvPr>
        </p:nvSpPr>
        <p:spPr>
          <a:xfrm>
            <a:off x="214779" y="4200952"/>
            <a:ext cx="4794687" cy="244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4287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Roboto Light"/>
                <a:ea typeface="Roboto Light"/>
                <a:cs typeface="Roboto Light"/>
                <a:sym typeface="Roboto Light"/>
              </a:rPr>
              <a:t>Can I use X and Y directly in a linear model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Light"/>
              <a:buChar char="•"/>
            </a:pPr>
            <a:r>
              <a:rPr lang="en-US" b="1"/>
              <a:t>No!</a:t>
            </a:r>
            <a:r>
              <a:rPr lang="en-US">
                <a:latin typeface="Roboto Light"/>
                <a:ea typeface="Roboto Light"/>
                <a:cs typeface="Roboto Light"/>
                <a:sym typeface="Roboto Light"/>
              </a:rPr>
              <a:t> Why?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1100"/>
              </a:spcAft>
              <a:buClr>
                <a:schemeClr val="dk1"/>
              </a:buClr>
              <a:buSzPts val="2400"/>
              <a:buFont typeface="Roboto Light"/>
              <a:buChar char="•"/>
            </a:pPr>
            <a:r>
              <a:rPr lang="en-US">
                <a:latin typeface="Roboto Light"/>
                <a:ea typeface="Roboto Light"/>
                <a:cs typeface="Roboto Light"/>
                <a:sym typeface="Roboto Light"/>
              </a:rPr>
              <a:t>Text, Categorical data, Missing values…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278" name="Google Shape;278;p29"/>
          <p:cNvGraphicFramePr/>
          <p:nvPr/>
        </p:nvGraphicFramePr>
        <p:xfrm>
          <a:off x="1576613" y="1505586"/>
          <a:ext cx="5605375" cy="2304510"/>
        </p:xfrm>
        <a:graphic>
          <a:graphicData uri="http://schemas.openxmlformats.org/drawingml/2006/table">
            <a:tbl>
              <a:tblPr firstRow="1" bandRow="1">
                <a:noFill/>
                <a:tableStyleId>{57258FED-AADA-4DB0-9438-5AACDB22A84A}</a:tableStyleId>
              </a:tblPr>
              <a:tblGrid>
                <a:gridCol w="62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3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uid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age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hasBought</a:t>
                      </a:r>
                      <a:endParaRPr sz="18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review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”Meh.”</a:t>
                      </a:r>
                      <a:endParaRPr sz="16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”Worked out of the box …”</a:t>
                      </a:r>
                      <a:endParaRPr sz="16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NULL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“Hella tots lit yo ...”</a:t>
                      </a:r>
                      <a:endParaRPr sz="16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9" name="Google Shape;279;p29"/>
          <p:cNvSpPr txBox="1"/>
          <p:nvPr/>
        </p:nvSpPr>
        <p:spPr>
          <a:xfrm>
            <a:off x="6400800" y="229565"/>
            <a:ext cx="533945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RatingsData(uid INTEGER, age FLOAT,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  state STRING, hasBought BOOLEAN,          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review STRING, rating FLOAT)</a:t>
            </a:r>
            <a:endParaRPr/>
          </a:p>
        </p:txBody>
      </p:sp>
      <p:graphicFrame>
        <p:nvGraphicFramePr>
          <p:cNvPr id="280" name="Google Shape;280;p29"/>
          <p:cNvGraphicFramePr/>
          <p:nvPr/>
        </p:nvGraphicFramePr>
        <p:xfrm>
          <a:off x="9949678" y="1505587"/>
          <a:ext cx="984600" cy="2433050"/>
        </p:xfrm>
        <a:graphic>
          <a:graphicData uri="http://schemas.openxmlformats.org/drawingml/2006/table">
            <a:tbl>
              <a:tblPr firstRow="1" bandRow="1">
                <a:noFill/>
                <a:tableStyleId>{57258FED-AADA-4DB0-9438-5AACDB22A84A}</a:tableStyleId>
              </a:tblPr>
              <a:tblGrid>
                <a:gridCol w="98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rating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2.0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FBE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4.5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7D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4.1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FBE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1" name="Google Shape;281;p29"/>
          <p:cNvSpPr/>
          <p:nvPr/>
        </p:nvSpPr>
        <p:spPr>
          <a:xfrm>
            <a:off x="1243432" y="1345232"/>
            <a:ext cx="6334234" cy="2695366"/>
          </a:xfrm>
          <a:prstGeom prst="bracketPair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29"/>
          <p:cNvSpPr/>
          <p:nvPr/>
        </p:nvSpPr>
        <p:spPr>
          <a:xfrm>
            <a:off x="9400981" y="1345232"/>
            <a:ext cx="1952819" cy="2695366"/>
          </a:xfrm>
          <a:prstGeom prst="bracketPair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292531" y="2338972"/>
            <a:ext cx="95090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entury Gothic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X= </a:t>
            </a:r>
            <a:endParaRPr/>
          </a:p>
        </p:txBody>
      </p:sp>
      <p:sp>
        <p:nvSpPr>
          <p:cNvPr id="284" name="Google Shape;284;p29"/>
          <p:cNvSpPr txBox="1"/>
          <p:nvPr/>
        </p:nvSpPr>
        <p:spPr>
          <a:xfrm>
            <a:off x="8459698" y="2338972"/>
            <a:ext cx="94128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entury Gothic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Y= </a:t>
            </a:r>
            <a:endParaRPr sz="4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85" name="Google Shape;285;p29"/>
          <p:cNvGrpSpPr/>
          <p:nvPr/>
        </p:nvGrpSpPr>
        <p:grpSpPr>
          <a:xfrm>
            <a:off x="5447989" y="4403770"/>
            <a:ext cx="5905811" cy="2243170"/>
            <a:chOff x="5447989" y="4403770"/>
            <a:chExt cx="5905811" cy="2243170"/>
          </a:xfrm>
        </p:grpSpPr>
        <p:grpSp>
          <p:nvGrpSpPr>
            <p:cNvPr id="286" name="Google Shape;286;p29"/>
            <p:cNvGrpSpPr/>
            <p:nvPr/>
          </p:nvGrpSpPr>
          <p:grpSpPr>
            <a:xfrm>
              <a:off x="5447989" y="4403770"/>
              <a:ext cx="5905811" cy="2243170"/>
              <a:chOff x="1189470" y="2575617"/>
              <a:chExt cx="5905811" cy="2243170"/>
            </a:xfrm>
          </p:grpSpPr>
          <p:grpSp>
            <p:nvGrpSpPr>
              <p:cNvPr id="287" name="Google Shape;287;p29"/>
              <p:cNvGrpSpPr/>
              <p:nvPr/>
            </p:nvGrpSpPr>
            <p:grpSpPr>
              <a:xfrm>
                <a:off x="1189470" y="2672538"/>
                <a:ext cx="5905811" cy="2146249"/>
                <a:chOff x="1189469" y="1347614"/>
                <a:chExt cx="9551591" cy="3471173"/>
              </a:xfrm>
            </p:grpSpPr>
            <p:sp>
              <p:nvSpPr>
                <p:cNvPr id="288" name="Google Shape;288;p29"/>
                <p:cNvSpPr/>
                <p:nvPr/>
              </p:nvSpPr>
              <p:spPr>
                <a:xfrm>
                  <a:off x="1189469" y="1780359"/>
                  <a:ext cx="3739274" cy="2634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9274" h="2634292" extrusionOk="0">
                      <a:moveTo>
                        <a:pt x="764836" y="1751736"/>
                      </a:moveTo>
                      <a:cubicBezTo>
                        <a:pt x="394295" y="1503713"/>
                        <a:pt x="-167493" y="568395"/>
                        <a:pt x="47660" y="353242"/>
                      </a:cubicBezTo>
                      <a:cubicBezTo>
                        <a:pt x="262813" y="138089"/>
                        <a:pt x="1565684" y="502653"/>
                        <a:pt x="2055754" y="460818"/>
                      </a:cubicBezTo>
                      <a:cubicBezTo>
                        <a:pt x="2545824" y="418983"/>
                        <a:pt x="2710177" y="-250382"/>
                        <a:pt x="2988083" y="102230"/>
                      </a:cubicBezTo>
                      <a:cubicBezTo>
                        <a:pt x="3265989" y="454842"/>
                        <a:pt x="3842718" y="2286630"/>
                        <a:pt x="3723189" y="2576489"/>
                      </a:cubicBezTo>
                      <a:cubicBezTo>
                        <a:pt x="3603660" y="2866348"/>
                        <a:pt x="2757989" y="1978842"/>
                        <a:pt x="2270907" y="1841383"/>
                      </a:cubicBezTo>
                      <a:cubicBezTo>
                        <a:pt x="1783825" y="1703924"/>
                        <a:pt x="1135377" y="1999759"/>
                        <a:pt x="764836" y="175173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800"/>
                    <a:buFont typeface="Century Gothic"/>
                    <a:buNone/>
                  </a:pPr>
                  <a:r>
                    <a:rPr lang="en-US" sz="2800" b="0" i="0" u="none" strike="noStrike" cap="none">
                      <a:solidFill>
                        <a:srgbClr val="FFFFFF"/>
                      </a:solidFill>
                      <a:latin typeface="Century Gothic"/>
                      <a:ea typeface="Century Gothic"/>
                      <a:cs typeface="Century Gothic"/>
                      <a:sym typeface="Century Gothic"/>
                    </a:rPr>
                    <a:t>Domain</a:t>
                  </a:r>
                  <a:endParaRPr/>
                </a:p>
              </p:txBody>
            </p:sp>
            <p:sp>
              <p:nvSpPr>
                <p:cNvPr id="289" name="Google Shape;289;p29"/>
                <p:cNvSpPr/>
                <p:nvPr/>
              </p:nvSpPr>
              <p:spPr>
                <a:xfrm>
                  <a:off x="4105834" y="1994846"/>
                  <a:ext cx="4625789" cy="881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7553" h="860919" extrusionOk="0">
                      <a:moveTo>
                        <a:pt x="0" y="860919"/>
                      </a:moveTo>
                      <a:cubicBezTo>
                        <a:pt x="781423" y="439577"/>
                        <a:pt x="1562847" y="18236"/>
                        <a:pt x="2259106" y="307"/>
                      </a:cubicBezTo>
                      <a:cubicBezTo>
                        <a:pt x="2955365" y="-17622"/>
                        <a:pt x="4177553" y="753342"/>
                        <a:pt x="4177553" y="753342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400"/>
                    <a:buFont typeface="Century Gothic"/>
                    <a:buNone/>
                  </a:pPr>
                  <a:endParaRPr sz="1400" b="0" i="0" u="none" strike="noStrike" cap="none">
                    <a:solidFill>
                      <a:srgbClr val="FFFFFF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cxnSp>
              <p:nvCxnSpPr>
                <p:cNvPr id="290" name="Google Shape;290;p29"/>
                <p:cNvCxnSpPr/>
                <p:nvPr/>
              </p:nvCxnSpPr>
              <p:spPr>
                <a:xfrm>
                  <a:off x="7542948" y="3102842"/>
                  <a:ext cx="3198112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6"/>
                  </a:solidFill>
                  <a:prstDash val="solid"/>
                  <a:miter lim="800000"/>
                  <a:headEnd type="stealth" w="med" len="med"/>
                  <a:tailEnd type="triangle" w="med" len="med"/>
                </a:ln>
              </p:spPr>
            </p:cxnSp>
            <p:pic>
              <p:nvPicPr>
                <p:cNvPr id="291" name="Google Shape;291;p2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0321960" y="3341651"/>
                  <a:ext cx="419100" cy="215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2" name="Google Shape;292;p2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7078653" y="3341651"/>
                  <a:ext cx="749300" cy="215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293" name="Google Shape;293;p29"/>
                <p:cNvCxnSpPr/>
                <p:nvPr/>
              </p:nvCxnSpPr>
              <p:spPr>
                <a:xfrm flipH="1">
                  <a:off x="8346876" y="2255498"/>
                  <a:ext cx="1432607" cy="188736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6"/>
                  </a:solidFill>
                  <a:prstDash val="solid"/>
                  <a:miter lim="800000"/>
                  <a:headEnd type="stealth" w="med" len="med"/>
                  <a:tailEnd type="triangle" w="med" len="med"/>
                </a:ln>
              </p:spPr>
            </p:cxnSp>
            <p:cxnSp>
              <p:nvCxnSpPr>
                <p:cNvPr id="294" name="Google Shape;294;p29"/>
                <p:cNvCxnSpPr/>
                <p:nvPr/>
              </p:nvCxnSpPr>
              <p:spPr>
                <a:xfrm>
                  <a:off x="9142003" y="1687519"/>
                  <a:ext cx="1" cy="2830645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6"/>
                  </a:solidFill>
                  <a:prstDash val="solid"/>
                  <a:miter lim="800000"/>
                  <a:headEnd type="stealth" w="med" len="med"/>
                  <a:tailEnd type="triangle" w="med" len="med"/>
                </a:ln>
              </p:spPr>
            </p:cxnSp>
            <p:pic>
              <p:nvPicPr>
                <p:cNvPr id="295" name="Google Shape;295;p2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8137325" y="4222561"/>
                  <a:ext cx="580381" cy="29898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6" name="Google Shape;296;p2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9343783" y="2029231"/>
                  <a:ext cx="673836" cy="1941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7" name="Google Shape;297;p2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8945589" y="1347614"/>
                  <a:ext cx="419100" cy="215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8" name="Google Shape;298;p2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8615389" y="4602887"/>
                  <a:ext cx="749300" cy="215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299" name="Google Shape;299;p2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422755" y="2575617"/>
                <a:ext cx="254000" cy="419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00" name="Google Shape;300;p29"/>
            <p:cNvSpPr txBox="1"/>
            <p:nvPr/>
          </p:nvSpPr>
          <p:spPr>
            <a:xfrm>
              <a:off x="6459658" y="4504320"/>
              <a:ext cx="465192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entury Gothic"/>
                <a:buNone/>
              </a:pPr>
              <a:r>
                <a:rPr lang="en-US" sz="36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X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>
            <a:spLocks noGrp="1"/>
          </p:cNvSpPr>
          <p:nvPr>
            <p:ph type="title"/>
          </p:nvPr>
        </p:nvSpPr>
        <p:spPr>
          <a:xfrm>
            <a:off x="552450" y="320675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Basic Transformations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306" name="Google Shape;306;p30"/>
          <p:cNvSpPr txBox="1">
            <a:spLocks noGrp="1"/>
          </p:cNvSpPr>
          <p:nvPr>
            <p:ph type="body" idx="1"/>
          </p:nvPr>
        </p:nvSpPr>
        <p:spPr>
          <a:xfrm>
            <a:off x="838200" y="1511809"/>
            <a:ext cx="10515600" cy="5193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429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Roboto Light"/>
              <a:buChar char="●"/>
            </a:pPr>
            <a:r>
              <a:rPr lang="en-US" sz="2590" b="1" dirty="0">
                <a:solidFill>
                  <a:srgbClr val="002060"/>
                </a:solidFill>
                <a:latin typeface="Roboto Light"/>
                <a:ea typeface="Roboto Light"/>
                <a:cs typeface="Roboto Light"/>
                <a:sym typeface="Roboto Light"/>
              </a:rPr>
              <a:t>Uninformative features (e.g., UID)</a:t>
            </a:r>
            <a:endParaRPr b="1" dirty="0">
              <a:solidFill>
                <a:srgbClr val="00206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4572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Roboto Light"/>
              <a:buChar char="○"/>
            </a:pPr>
            <a:r>
              <a:rPr lang="en-US" sz="2220" b="1" dirty="0">
                <a:latin typeface="Roboto Light"/>
                <a:ea typeface="Roboto Light"/>
                <a:cs typeface="Roboto Light"/>
                <a:sym typeface="Roboto Light"/>
              </a:rPr>
              <a:t>Is this informative (probably not?)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4572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Char char="○"/>
            </a:pPr>
            <a:r>
              <a:rPr lang="en-US" sz="2220" b="1" dirty="0"/>
              <a:t>Transformation</a:t>
            </a:r>
            <a:r>
              <a:rPr lang="en-US" sz="2220" dirty="0">
                <a:latin typeface="Roboto Light"/>
                <a:ea typeface="Roboto Light"/>
                <a:cs typeface="Roboto Light"/>
                <a:sym typeface="Roboto Light"/>
              </a:rPr>
              <a:t>: </a:t>
            </a:r>
            <a:r>
              <a:rPr lang="en-US" sz="2220" b="1" dirty="0">
                <a:solidFill>
                  <a:srgbClr val="C00000"/>
                </a:solidFill>
                <a:latin typeface="Roboto Light"/>
                <a:ea typeface="Roboto Light"/>
                <a:cs typeface="Roboto Light"/>
                <a:sym typeface="Roboto Light"/>
              </a:rPr>
              <a:t>remove uninformative features (why?)</a:t>
            </a:r>
            <a:endParaRPr b="1" dirty="0">
              <a:solidFill>
                <a:srgbClr val="C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1373188" lvl="2" indent="-31115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Roboto Light"/>
              <a:buChar char="■"/>
            </a:pPr>
            <a:r>
              <a:rPr lang="en-US" sz="1850" dirty="0">
                <a:latin typeface="Roboto Light"/>
                <a:ea typeface="Roboto Light"/>
                <a:cs typeface="Roboto Light"/>
                <a:sym typeface="Roboto Light"/>
              </a:rPr>
              <a:t>They could influence the model.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442913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Roboto Light"/>
              <a:buChar char="●"/>
            </a:pPr>
            <a:r>
              <a:rPr lang="en-US" sz="2590" b="1" dirty="0">
                <a:latin typeface="Roboto Light"/>
                <a:ea typeface="Roboto Light"/>
                <a:cs typeface="Roboto Light"/>
                <a:sym typeface="Roboto Light"/>
              </a:rPr>
              <a:t>Quantitative Features (e.g., Age)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4572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Char char="○"/>
            </a:pPr>
            <a:r>
              <a:rPr lang="en-US" sz="2220" b="1" dirty="0"/>
              <a:t>Transformation</a:t>
            </a:r>
            <a:r>
              <a:rPr lang="en-US" sz="2220" dirty="0">
                <a:latin typeface="Roboto Light"/>
                <a:ea typeface="Roboto Light"/>
                <a:cs typeface="Roboto Light"/>
                <a:sym typeface="Roboto Light"/>
              </a:rPr>
              <a:t>: </a:t>
            </a:r>
            <a:r>
              <a:rPr lang="en-US" sz="2220" dirty="0">
                <a:solidFill>
                  <a:srgbClr val="C00000"/>
                </a:solidFill>
                <a:latin typeface="Roboto Light"/>
                <a:ea typeface="Roboto Light"/>
                <a:cs typeface="Roboto Light"/>
                <a:sym typeface="Roboto Light"/>
              </a:rPr>
              <a:t>May apply non-linear transformations (e.g., log)</a:t>
            </a:r>
            <a:endParaRPr dirty="0">
              <a:solidFill>
                <a:srgbClr val="C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4572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Char char="○"/>
            </a:pPr>
            <a:r>
              <a:rPr lang="en-US" sz="2220" b="1" dirty="0"/>
              <a:t>Transformation</a:t>
            </a:r>
            <a:r>
              <a:rPr lang="en-US" sz="2220" dirty="0">
                <a:latin typeface="Roboto Light"/>
                <a:ea typeface="Roboto Light"/>
                <a:cs typeface="Roboto Light"/>
                <a:sym typeface="Roboto Light"/>
              </a:rPr>
              <a:t>: </a:t>
            </a:r>
            <a:r>
              <a:rPr lang="en-US" sz="2220" dirty="0">
                <a:solidFill>
                  <a:srgbClr val="C00000"/>
                </a:solidFill>
                <a:latin typeface="Roboto Light"/>
                <a:ea typeface="Roboto Light"/>
                <a:cs typeface="Roboto Light"/>
                <a:sym typeface="Roboto Light"/>
              </a:rPr>
              <a:t>Normalize/standardize (more on this later …)</a:t>
            </a:r>
            <a:endParaRPr dirty="0">
              <a:solidFill>
                <a:srgbClr val="C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1373188" lvl="2" indent="-31115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Roboto Light"/>
              <a:buChar char="■"/>
            </a:pPr>
            <a:r>
              <a:rPr lang="en-US" sz="1850" dirty="0">
                <a:solidFill>
                  <a:srgbClr val="C00000"/>
                </a:solidFill>
                <a:latin typeface="Roboto Light"/>
                <a:ea typeface="Roboto Light"/>
                <a:cs typeface="Roboto Light"/>
                <a:sym typeface="Roboto Light"/>
              </a:rPr>
              <a:t>Example: (x – mean)/</a:t>
            </a:r>
            <a:r>
              <a:rPr lang="en-US" sz="1850" dirty="0" err="1">
                <a:solidFill>
                  <a:srgbClr val="C00000"/>
                </a:solidFill>
                <a:latin typeface="Roboto Light"/>
                <a:ea typeface="Roboto Light"/>
                <a:cs typeface="Roboto Light"/>
                <a:sym typeface="Roboto Light"/>
              </a:rPr>
              <a:t>stdev</a:t>
            </a:r>
            <a:endParaRPr sz="1850" dirty="0">
              <a:solidFill>
                <a:srgbClr val="C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442913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Roboto Light"/>
              <a:buChar char="●"/>
            </a:pPr>
            <a:r>
              <a:rPr lang="en-US" sz="2590" b="1" dirty="0">
                <a:solidFill>
                  <a:srgbClr val="002060"/>
                </a:solidFill>
                <a:latin typeface="Roboto Light"/>
                <a:ea typeface="Roboto Light"/>
                <a:cs typeface="Roboto Light"/>
                <a:sym typeface="Roboto Light"/>
              </a:rPr>
              <a:t>Categorical Features (e.g., State)</a:t>
            </a:r>
            <a:endParaRPr b="1" dirty="0">
              <a:solidFill>
                <a:srgbClr val="00206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4572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Roboto Light"/>
              <a:buChar char="○"/>
            </a:pPr>
            <a:r>
              <a:rPr lang="en-US" sz="2220" b="1" dirty="0">
                <a:solidFill>
                  <a:srgbClr val="C00000"/>
                </a:solidFill>
                <a:latin typeface="Roboto Light"/>
                <a:ea typeface="Roboto Light"/>
                <a:cs typeface="Roboto Light"/>
                <a:sym typeface="Roboto Light"/>
              </a:rPr>
              <a:t>How do we convert State into meaningful numbers?</a:t>
            </a:r>
            <a:endParaRPr b="1" dirty="0">
              <a:solidFill>
                <a:srgbClr val="C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1373188" lvl="2" indent="-31115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Roboto Light"/>
              <a:buChar char="■"/>
            </a:pPr>
            <a:r>
              <a:rPr lang="en-US" sz="1850" b="1" dirty="0">
                <a:solidFill>
                  <a:srgbClr val="C00000"/>
                </a:solidFill>
                <a:latin typeface="Roboto Light"/>
                <a:ea typeface="Roboto Light"/>
                <a:cs typeface="Roboto Light"/>
                <a:sym typeface="Roboto Light"/>
              </a:rPr>
              <a:t>Alabama = 1 , …, Utah = 50 ? </a:t>
            </a:r>
            <a:endParaRPr b="1" dirty="0">
              <a:solidFill>
                <a:srgbClr val="C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1373188" lvl="2" indent="-31115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Roboto Light"/>
              <a:buChar char="■"/>
            </a:pPr>
            <a:r>
              <a:rPr lang="en-US" sz="1850" b="1" dirty="0">
                <a:solidFill>
                  <a:srgbClr val="C00000"/>
                </a:solidFill>
                <a:latin typeface="Roboto Light"/>
                <a:ea typeface="Roboto Light"/>
                <a:cs typeface="Roboto Light"/>
                <a:sym typeface="Roboto Light"/>
              </a:rPr>
              <a:t>Implies order/magnitude means something … we don’t want that ...</a:t>
            </a:r>
            <a:endParaRPr sz="1850" b="1" dirty="0">
              <a:solidFill>
                <a:srgbClr val="C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457200" algn="l" rtl="0">
              <a:lnSpc>
                <a:spcPct val="80000"/>
              </a:lnSpc>
              <a:spcBef>
                <a:spcPts val="500"/>
              </a:spcBef>
              <a:spcAft>
                <a:spcPts val="1100"/>
              </a:spcAft>
              <a:buClr>
                <a:schemeClr val="dk1"/>
              </a:buClr>
              <a:buSzPts val="2220"/>
              <a:buChar char="○"/>
            </a:pPr>
            <a:r>
              <a:rPr lang="en-US" sz="2220" b="1" dirty="0"/>
              <a:t>Transformation</a:t>
            </a:r>
            <a:r>
              <a:rPr lang="en-US" sz="2220" dirty="0">
                <a:latin typeface="Roboto Light"/>
                <a:ea typeface="Roboto Light"/>
                <a:cs typeface="Roboto Light"/>
                <a:sym typeface="Roboto Light"/>
              </a:rPr>
              <a:t>: </a:t>
            </a:r>
            <a:r>
              <a:rPr lang="en-US" sz="2220" i="1" dirty="0">
                <a:solidFill>
                  <a:srgbClr val="C00000"/>
                </a:solidFill>
                <a:latin typeface="Roboto Light"/>
                <a:ea typeface="Roboto Light"/>
                <a:cs typeface="Roboto Light"/>
                <a:sym typeface="Roboto Light"/>
              </a:rPr>
              <a:t>One-hot-Encode</a:t>
            </a:r>
            <a:endParaRPr dirty="0">
              <a:solidFill>
                <a:srgbClr val="C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>
            <a:spLocks noGrp="1"/>
          </p:cNvSpPr>
          <p:nvPr>
            <p:ph type="title"/>
          </p:nvPr>
        </p:nvSpPr>
        <p:spPr>
          <a:xfrm>
            <a:off x="552450" y="130704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One-Hot Encoding (dummy encoding)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312" name="Google Shape;312;p31"/>
          <p:cNvSpPr txBox="1">
            <a:spLocks noGrp="1"/>
          </p:cNvSpPr>
          <p:nvPr>
            <p:ph type="body" idx="1"/>
          </p:nvPr>
        </p:nvSpPr>
        <p:spPr>
          <a:xfrm>
            <a:off x="838200" y="1264538"/>
            <a:ext cx="10515600" cy="467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Transform categorical feature into many binary features: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265113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b="1" dirty="0"/>
          </a:p>
          <a:p>
            <a:pPr marL="457200" lvl="0" indent="-265113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dirty="0"/>
          </a:p>
          <a:p>
            <a:pPr marL="457200" lvl="0" indent="-265113" algn="l" rtl="0">
              <a:lnSpc>
                <a:spcPct val="90000"/>
              </a:lnSpc>
              <a:spcBef>
                <a:spcPts val="2200"/>
              </a:spcBef>
              <a:spcAft>
                <a:spcPts val="110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dirty="0"/>
          </a:p>
        </p:txBody>
      </p:sp>
      <p:graphicFrame>
        <p:nvGraphicFramePr>
          <p:cNvPr id="313" name="Google Shape;313;p31"/>
          <p:cNvGraphicFramePr/>
          <p:nvPr/>
        </p:nvGraphicFramePr>
        <p:xfrm>
          <a:off x="1625924" y="1841792"/>
          <a:ext cx="1158075" cy="1847600"/>
        </p:xfrm>
        <a:graphic>
          <a:graphicData uri="http://schemas.openxmlformats.org/drawingml/2006/table">
            <a:tbl>
              <a:tblPr firstRow="1" bandRow="1">
                <a:noFill/>
                <a:tableStyleId>{57258FED-AADA-4DB0-9438-5AACDB22A84A}</a:tableStyleId>
              </a:tblPr>
              <a:tblGrid>
                <a:gridCol w="115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state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NY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WA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4" name="Google Shape;314;p31"/>
          <p:cNvGraphicFramePr/>
          <p:nvPr/>
        </p:nvGraphicFramePr>
        <p:xfrm>
          <a:off x="4156560" y="1841788"/>
          <a:ext cx="6550875" cy="1847600"/>
        </p:xfrm>
        <a:graphic>
          <a:graphicData uri="http://schemas.openxmlformats.org/drawingml/2006/table">
            <a:tbl>
              <a:tblPr firstRow="1" bandRow="1">
                <a:noFill/>
                <a:tableStyleId>{57258FED-AADA-4DB0-9438-5AACDB22A84A}</a:tableStyleId>
              </a:tblPr>
              <a:tblGrid>
                <a:gridCol w="72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7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7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7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7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7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61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AK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CA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NY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WA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WY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entury Gothic"/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</a:rPr>
                        <a:t>1</a:t>
                      </a:r>
                      <a:endParaRPr/>
                    </a:p>
                  </a:txBody>
                  <a:tcPr marL="73700" marR="73700" marT="36850" marB="368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entury Gothic"/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entury Gothic"/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</a:rPr>
                        <a:t>1</a:t>
                      </a:r>
                      <a:endParaRPr/>
                    </a:p>
                  </a:txBody>
                  <a:tcPr marL="73700" marR="73700" marT="36850" marB="368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entury Gothic"/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</a:rPr>
                        <a:t>1</a:t>
                      </a:r>
                      <a:endParaRPr/>
                    </a:p>
                  </a:txBody>
                  <a:tcPr marL="73700" marR="73700" marT="36850" marB="368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entury Gothic"/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…</a:t>
                      </a:r>
                      <a:endParaRPr sz="2200"/>
                    </a:p>
                  </a:txBody>
                  <a:tcPr marL="73700" marR="73700" marT="36850" marB="36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/>
                    </a:p>
                  </a:txBody>
                  <a:tcPr marL="73700" marR="73700" marT="36850" marB="368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5" name="Google Shape;315;p31"/>
          <p:cNvSpPr/>
          <p:nvPr/>
        </p:nvSpPr>
        <p:spPr>
          <a:xfrm>
            <a:off x="3203738" y="2497741"/>
            <a:ext cx="539965" cy="627056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74747"/>
              </a:gs>
              <a:gs pos="50000">
                <a:schemeClr val="dk1"/>
              </a:gs>
              <a:gs pos="100000">
                <a:schemeClr val="dk1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4406" y="4187092"/>
            <a:ext cx="3683000" cy="22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150852" y="4689859"/>
            <a:ext cx="200733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Corresponding feature functions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18" name="Google Shape;318;p31"/>
          <p:cNvSpPr txBox="1"/>
          <p:nvPr/>
        </p:nvSpPr>
        <p:spPr>
          <a:xfrm>
            <a:off x="98099" y="5734180"/>
            <a:ext cx="18186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See notebook for example code.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6050" y="4786375"/>
            <a:ext cx="3877936" cy="18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6590000" y="4421951"/>
            <a:ext cx="57120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Origin of the term: multiple “wires” for possible values one is hot…</a:t>
            </a:r>
            <a:endParaRPr sz="1800" i="0" u="none" strike="noStrike" cap="non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i="0" u="none" strike="noStrike" cap="non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2"/>
          <p:cNvSpPr txBox="1">
            <a:spLocks noGrp="1"/>
          </p:cNvSpPr>
          <p:nvPr>
            <p:ph type="title"/>
          </p:nvPr>
        </p:nvSpPr>
        <p:spPr>
          <a:xfrm>
            <a:off x="552450" y="320675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Encoding Missing Values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326" name="Google Shape;326;p32"/>
          <p:cNvSpPr txBox="1">
            <a:spLocks noGrp="1"/>
          </p:cNvSpPr>
          <p:nvPr>
            <p:ph type="body" idx="1"/>
          </p:nvPr>
        </p:nvSpPr>
        <p:spPr>
          <a:xfrm>
            <a:off x="838200" y="1646238"/>
            <a:ext cx="10515600" cy="488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Missing values in </a:t>
            </a:r>
            <a:r>
              <a:rPr lang="en-US" b="1" dirty="0"/>
              <a:t>Quantitative Data</a:t>
            </a:r>
            <a:endParaRPr b="1" dirty="0"/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Try to impute (estimate) missing values… (tricky)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1371600" lvl="2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Light"/>
              <a:buChar char="■"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Substitute the sample mean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Add a binary field called “</a:t>
            </a:r>
            <a:r>
              <a:rPr lang="en-US" b="1" dirty="0" err="1">
                <a:latin typeface="Roboto Light"/>
                <a:ea typeface="Roboto Light"/>
                <a:cs typeface="Roboto Light"/>
                <a:sym typeface="Roboto Light"/>
              </a:rPr>
              <a:t>missing_col_name</a:t>
            </a: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”.  (why?)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1371600" lvl="2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Light"/>
              <a:buChar char="■"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Sometimes missing data is signal!</a:t>
            </a:r>
          </a:p>
          <a:p>
            <a:pPr marL="101600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Missing values in </a:t>
            </a:r>
            <a:r>
              <a:rPr lang="en-US" b="1" dirty="0"/>
              <a:t>Categorical Data</a:t>
            </a:r>
            <a:endParaRPr b="1" dirty="0"/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Add an addition category called “</a:t>
            </a:r>
            <a:r>
              <a:rPr lang="en-US" b="1" dirty="0" err="1">
                <a:latin typeface="Roboto Light"/>
                <a:ea typeface="Roboto Light"/>
                <a:cs typeface="Roboto Light"/>
                <a:sym typeface="Roboto Light"/>
              </a:rPr>
              <a:t>missing_col_name</a:t>
            </a: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”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>
            <a:spLocks noGrp="1"/>
          </p:cNvSpPr>
          <p:nvPr>
            <p:ph type="title"/>
          </p:nvPr>
        </p:nvSpPr>
        <p:spPr>
          <a:xfrm>
            <a:off x="552450" y="276128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Encoding categorical data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1"/>
          </p:nvPr>
        </p:nvSpPr>
        <p:spPr>
          <a:xfrm>
            <a:off x="838200" y="1601697"/>
            <a:ext cx="10515600" cy="27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rgbClr val="002060"/>
                </a:solidFill>
                <a:latin typeface="Roboto Light"/>
                <a:ea typeface="Roboto Light"/>
                <a:cs typeface="Roboto Light"/>
                <a:sym typeface="Roboto Light"/>
              </a:rPr>
              <a:t>Categorical Data: </a:t>
            </a:r>
            <a:r>
              <a:rPr lang="en-US" b="1" dirty="0">
                <a:solidFill>
                  <a:srgbClr val="C00000"/>
                </a:solidFill>
              </a:rPr>
              <a:t>One-hot encoding</a:t>
            </a:r>
            <a:r>
              <a:rPr lang="en-US" dirty="0">
                <a:solidFill>
                  <a:srgbClr val="C00000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dirty="0">
              <a:solidFill>
                <a:srgbClr val="C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i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b="1" i="1" dirty="0">
                <a:latin typeface="Roboto Light"/>
                <a:ea typeface="Roboto Light"/>
                <a:cs typeface="Roboto Light"/>
                <a:sym typeface="Roboto Light"/>
              </a:rPr>
              <a:t>Text Data: </a:t>
            </a:r>
            <a:r>
              <a:rPr lang="en-US" b="1" dirty="0">
                <a:solidFill>
                  <a:srgbClr val="C00000"/>
                </a:solidFill>
              </a:rPr>
              <a:t>Bag-of-words &amp; N-gram models</a:t>
            </a: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i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i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i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i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2200"/>
              </a:spcBef>
              <a:spcAft>
                <a:spcPts val="110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34" name="Google Shape;33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0779" y="2127225"/>
            <a:ext cx="7657241" cy="17684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5" name="Google Shape;335;p33"/>
          <p:cNvGrpSpPr/>
          <p:nvPr/>
        </p:nvGrpSpPr>
        <p:grpSpPr>
          <a:xfrm>
            <a:off x="1613744" y="4888299"/>
            <a:ext cx="9662599" cy="1822126"/>
            <a:chOff x="1162407" y="1772524"/>
            <a:chExt cx="9662599" cy="1822126"/>
          </a:xfrm>
        </p:grpSpPr>
        <p:sp>
          <p:nvSpPr>
            <p:cNvPr id="336" name="Google Shape;336;p33"/>
            <p:cNvSpPr/>
            <p:nvPr/>
          </p:nvSpPr>
          <p:spPr>
            <a:xfrm>
              <a:off x="6761269" y="3142147"/>
              <a:ext cx="4063737" cy="45250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7" name="Google Shape;337;p33"/>
            <p:cNvSpPr/>
            <p:nvPr/>
          </p:nvSpPr>
          <p:spPr>
            <a:xfrm>
              <a:off x="1162407" y="2028991"/>
              <a:ext cx="3935683" cy="1403446"/>
            </a:xfrm>
            <a:prstGeom prst="rect">
              <a:avLst/>
            </a:prstGeom>
            <a:gradFill>
              <a:gsLst>
                <a:gs pos="0">
                  <a:srgbClr val="5F82CA"/>
                </a:gs>
                <a:gs pos="50000">
                  <a:srgbClr val="3C70CA"/>
                </a:gs>
                <a:gs pos="100000">
                  <a:srgbClr val="2E60B9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Century Gothic"/>
                <a:buNone/>
              </a:pPr>
              <a:r>
                <a:rPr lang="en-US" sz="2400" b="0" i="1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“Learning about machine</a:t>
              </a:r>
              <a:br>
                <a:rPr lang="en-US" sz="2400" b="0" i="1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lang="en-US" sz="2400" b="0" i="1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learning is fun.”</a:t>
              </a:r>
              <a:endParaRPr/>
            </a:p>
          </p:txBody>
        </p:sp>
        <p:sp>
          <p:nvSpPr>
            <p:cNvPr id="338" name="Google Shape;338;p33"/>
            <p:cNvSpPr/>
            <p:nvPr/>
          </p:nvSpPr>
          <p:spPr>
            <a:xfrm>
              <a:off x="5511254" y="2521879"/>
              <a:ext cx="329070" cy="447536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474747"/>
                </a:gs>
                <a:gs pos="50000">
                  <a:schemeClr val="dk1"/>
                </a:gs>
                <a:gs pos="100000">
                  <a:schemeClr val="dk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9" name="Google Shape;339;p33"/>
            <p:cNvSpPr/>
            <p:nvPr/>
          </p:nvSpPr>
          <p:spPr>
            <a:xfrm>
              <a:off x="6761269" y="3147114"/>
              <a:ext cx="447536" cy="447536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/>
            </a:p>
          </p:txBody>
        </p:sp>
        <p:sp>
          <p:nvSpPr>
            <p:cNvPr id="340" name="Google Shape;340;p33"/>
            <p:cNvSpPr/>
            <p:nvPr/>
          </p:nvSpPr>
          <p:spPr>
            <a:xfrm>
              <a:off x="7208806" y="3147114"/>
              <a:ext cx="447536" cy="447536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/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8037441" y="3147114"/>
              <a:ext cx="447536" cy="447536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/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8842256" y="3147114"/>
              <a:ext cx="447536" cy="447536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9623255" y="3147114"/>
              <a:ext cx="447536" cy="447536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/>
            </a:p>
          </p:txBody>
        </p:sp>
        <p:sp>
          <p:nvSpPr>
            <p:cNvPr id="344" name="Google Shape;344;p33"/>
            <p:cNvSpPr txBox="1"/>
            <p:nvPr/>
          </p:nvSpPr>
          <p:spPr>
            <a:xfrm rot="-5400000">
              <a:off x="8332813" y="2275325"/>
              <a:ext cx="1422900" cy="43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entury Gothic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learning</a:t>
              </a: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 rot="-5400000">
              <a:off x="6371242" y="2353669"/>
              <a:ext cx="1184113" cy="404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aardvark</a:t>
              </a: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6" name="Google Shape;346;p33"/>
            <p:cNvSpPr txBox="1"/>
            <p:nvPr/>
          </p:nvSpPr>
          <p:spPr>
            <a:xfrm rot="-5400000">
              <a:off x="9108713" y="2270224"/>
              <a:ext cx="1433100" cy="43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entury Gothic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machine</a:t>
              </a:r>
              <a:endParaRPr sz="2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7" name="Google Shape;347;p33"/>
            <p:cNvSpPr txBox="1"/>
            <p:nvPr/>
          </p:nvSpPr>
          <p:spPr>
            <a:xfrm rot="-5400000">
              <a:off x="7943263" y="2656011"/>
              <a:ext cx="593109" cy="4377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entury Gothic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fun</a:t>
              </a:r>
              <a:endParaRPr/>
            </a:p>
          </p:txBody>
        </p:sp>
        <p:sp>
          <p:nvSpPr>
            <p:cNvPr id="348" name="Google Shape;348;p33"/>
            <p:cNvSpPr txBox="1"/>
            <p:nvPr/>
          </p:nvSpPr>
          <p:spPr>
            <a:xfrm>
              <a:off x="7661791" y="3130244"/>
              <a:ext cx="375648" cy="404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…</a:t>
              </a: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9" name="Google Shape;349;p33"/>
            <p:cNvSpPr txBox="1"/>
            <p:nvPr/>
          </p:nvSpPr>
          <p:spPr>
            <a:xfrm>
              <a:off x="8459712" y="3142149"/>
              <a:ext cx="375648" cy="404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…</a:t>
              </a: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0" name="Google Shape;350;p33"/>
            <p:cNvSpPr txBox="1"/>
            <p:nvPr/>
          </p:nvSpPr>
          <p:spPr>
            <a:xfrm>
              <a:off x="9281446" y="3142147"/>
              <a:ext cx="375648" cy="404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…</a:t>
              </a: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1" name="Google Shape;351;p33"/>
            <p:cNvSpPr txBox="1"/>
            <p:nvPr/>
          </p:nvSpPr>
          <p:spPr>
            <a:xfrm>
              <a:off x="10067454" y="3177873"/>
              <a:ext cx="375648" cy="404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…</a:t>
              </a: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2" name="Google Shape;352;p33"/>
            <p:cNvSpPr/>
            <p:nvPr/>
          </p:nvSpPr>
          <p:spPr>
            <a:xfrm>
              <a:off x="10377470" y="3147114"/>
              <a:ext cx="447536" cy="447536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/>
            </a:p>
          </p:txBody>
        </p:sp>
        <p:sp>
          <p:nvSpPr>
            <p:cNvPr id="353" name="Google Shape;353;p33"/>
            <p:cNvSpPr txBox="1"/>
            <p:nvPr/>
          </p:nvSpPr>
          <p:spPr>
            <a:xfrm rot="-5400000">
              <a:off x="10012063" y="2378249"/>
              <a:ext cx="1134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zyzzyva</a:t>
              </a:r>
              <a:endParaRPr/>
            </a:p>
          </p:txBody>
        </p:sp>
        <p:sp>
          <p:nvSpPr>
            <p:cNvPr id="354" name="Google Shape;354;p33"/>
            <p:cNvSpPr/>
            <p:nvPr/>
          </p:nvSpPr>
          <p:spPr>
            <a:xfrm rot="-5400000">
              <a:off x="6733313" y="2293199"/>
              <a:ext cx="13050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aardwolf</a:t>
              </a:r>
              <a:endParaRPr/>
            </a:p>
          </p:txBody>
        </p:sp>
        <p:sp>
          <p:nvSpPr>
            <p:cNvPr id="355" name="Google Shape;355;p33"/>
            <p:cNvSpPr txBox="1"/>
            <p:nvPr/>
          </p:nvSpPr>
          <p:spPr>
            <a:xfrm>
              <a:off x="5632016" y="3149525"/>
              <a:ext cx="1212300" cy="43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entury Gothic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Vector</a:t>
              </a:r>
              <a:endParaRPr/>
            </a:p>
          </p:txBody>
        </p:sp>
      </p:grp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"/>
          <p:cNvSpPr txBox="1">
            <a:spLocks noGrp="1"/>
          </p:cNvSpPr>
          <p:nvPr>
            <p:ph type="title"/>
          </p:nvPr>
        </p:nvSpPr>
        <p:spPr>
          <a:xfrm>
            <a:off x="552450" y="0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Bag-of-words Encoding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361" name="Google Shape;361;p34"/>
          <p:cNvSpPr txBox="1">
            <a:spLocks noGrp="1"/>
          </p:cNvSpPr>
          <p:nvPr>
            <p:ph type="body" idx="1"/>
          </p:nvPr>
        </p:nvSpPr>
        <p:spPr>
          <a:xfrm>
            <a:off x="838200" y="1198974"/>
            <a:ext cx="105156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Light"/>
              <a:buChar char="●"/>
            </a:pPr>
            <a:r>
              <a:rPr lang="en-US" b="1" dirty="0">
                <a:solidFill>
                  <a:srgbClr val="002060"/>
                </a:solidFill>
                <a:latin typeface="Roboto Light"/>
                <a:ea typeface="Roboto Light"/>
                <a:cs typeface="Roboto Light"/>
                <a:sym typeface="Roboto Light"/>
              </a:rPr>
              <a:t>Generalization of one-hot-encoding for a string of text:</a:t>
            </a:r>
            <a:endParaRPr b="1" dirty="0">
              <a:solidFill>
                <a:srgbClr val="00206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36195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100"/>
              <a:buFont typeface="Roboto Light"/>
              <a:buChar char="●"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Encode text as a long vector of word counts (Issues?)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Light"/>
              <a:buChar char="○"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Long = millions of columns – typically high dimensional and very sparse.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Light"/>
              <a:buChar char="○"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Word order information is lost… (is this an issue?).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Light"/>
              <a:buChar char="○"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New unseen words at prediction (test) time – drop them.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Light"/>
              <a:buChar char="●"/>
            </a:pPr>
            <a:r>
              <a:rPr lang="en-US" b="1" dirty="0">
                <a:solidFill>
                  <a:srgbClr val="002060"/>
                </a:solidFill>
                <a:latin typeface="Roboto Light"/>
                <a:ea typeface="Roboto Light"/>
                <a:cs typeface="Roboto Light"/>
                <a:sym typeface="Roboto Light"/>
              </a:rPr>
              <a:t>A bag is another term for a multiset: </a:t>
            </a:r>
            <a:r>
              <a:rPr lang="en-US" b="1" i="1" dirty="0">
                <a:solidFill>
                  <a:srgbClr val="002060"/>
                </a:solidFill>
                <a:latin typeface="Roboto Light"/>
                <a:ea typeface="Roboto Light"/>
                <a:cs typeface="Roboto Light"/>
                <a:sym typeface="Roboto Light"/>
              </a:rPr>
              <a:t>an unordered collection which may contain multiple instances of each element.</a:t>
            </a:r>
            <a:endParaRPr b="1" dirty="0">
              <a:solidFill>
                <a:srgbClr val="00206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Light"/>
              <a:buChar char="●"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Stop words: words that do not contain significant information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Light"/>
              <a:buChar char="○"/>
            </a:pPr>
            <a:r>
              <a:rPr lang="en-US" dirty="0">
                <a:solidFill>
                  <a:srgbClr val="002060"/>
                </a:solidFill>
                <a:latin typeface="Roboto Light"/>
                <a:ea typeface="Roboto Light"/>
                <a:cs typeface="Roboto Light"/>
                <a:sym typeface="Roboto Light"/>
              </a:rPr>
              <a:t>Examples: the, in, at, or, on, a, an, and, ...</a:t>
            </a:r>
            <a:endParaRPr dirty="0">
              <a:solidFill>
                <a:srgbClr val="00206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Light"/>
              <a:buChar char="○"/>
            </a:pPr>
            <a:r>
              <a:rPr lang="en-US" dirty="0">
                <a:solidFill>
                  <a:srgbClr val="002060"/>
                </a:solidFill>
                <a:latin typeface="Roboto Light"/>
                <a:ea typeface="Roboto Light"/>
                <a:cs typeface="Roboto Light"/>
                <a:sym typeface="Roboto Light"/>
              </a:rPr>
              <a:t>Typically removed.</a:t>
            </a:r>
            <a:endParaRPr dirty="0">
              <a:solidFill>
                <a:srgbClr val="00206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362" name="Google Shape;362;p34"/>
          <p:cNvGrpSpPr/>
          <p:nvPr/>
        </p:nvGrpSpPr>
        <p:grpSpPr>
          <a:xfrm>
            <a:off x="1453569" y="1854774"/>
            <a:ext cx="9662663" cy="1822190"/>
            <a:chOff x="1162407" y="1772524"/>
            <a:chExt cx="9662663" cy="1822190"/>
          </a:xfrm>
        </p:grpSpPr>
        <p:sp>
          <p:nvSpPr>
            <p:cNvPr id="363" name="Google Shape;363;p34"/>
            <p:cNvSpPr/>
            <p:nvPr/>
          </p:nvSpPr>
          <p:spPr>
            <a:xfrm>
              <a:off x="6761269" y="3142147"/>
              <a:ext cx="4063800" cy="4524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1162407" y="2028991"/>
              <a:ext cx="3935700" cy="1403400"/>
            </a:xfrm>
            <a:prstGeom prst="rect">
              <a:avLst/>
            </a:prstGeom>
            <a:gradFill>
              <a:gsLst>
                <a:gs pos="0">
                  <a:srgbClr val="5F82CA"/>
                </a:gs>
                <a:gs pos="50000">
                  <a:srgbClr val="3C70CA"/>
                </a:gs>
                <a:gs pos="100000">
                  <a:srgbClr val="2E60B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Century Gothic"/>
                <a:buNone/>
              </a:pPr>
              <a:r>
                <a:rPr lang="en-US" sz="2400" b="0" i="1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“Learning about machine</a:t>
              </a:r>
              <a:br>
                <a:rPr lang="en-US" sz="2400" b="0" i="1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lang="en-US" sz="2400" b="0" i="1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learning is fun.”</a:t>
              </a:r>
              <a:endParaRPr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5511254" y="2521879"/>
              <a:ext cx="329100" cy="447600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474747"/>
                </a:gs>
                <a:gs pos="50000">
                  <a:schemeClr val="dk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6761269" y="3147114"/>
              <a:ext cx="447600" cy="447600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7208806" y="3147114"/>
              <a:ext cx="447600" cy="447600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8037441" y="3147114"/>
              <a:ext cx="447600" cy="447600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8842256" y="3147114"/>
              <a:ext cx="447600" cy="447600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9623255" y="3147114"/>
              <a:ext cx="447600" cy="447600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/>
            </a:p>
          </p:txBody>
        </p:sp>
        <p:sp>
          <p:nvSpPr>
            <p:cNvPr id="371" name="Google Shape;371;p34"/>
            <p:cNvSpPr txBox="1"/>
            <p:nvPr/>
          </p:nvSpPr>
          <p:spPr>
            <a:xfrm rot="-5400000">
              <a:off x="8332813" y="2275325"/>
              <a:ext cx="1422900" cy="43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entury Gothic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learning</a:t>
              </a:r>
              <a:endParaRPr/>
            </a:p>
          </p:txBody>
        </p:sp>
        <p:sp>
          <p:nvSpPr>
            <p:cNvPr id="372" name="Google Shape;372;p34"/>
            <p:cNvSpPr/>
            <p:nvPr/>
          </p:nvSpPr>
          <p:spPr>
            <a:xfrm rot="-5400000">
              <a:off x="6371270" y="2353654"/>
              <a:ext cx="1184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aardvark</a:t>
              </a: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3" name="Google Shape;373;p34"/>
            <p:cNvSpPr txBox="1"/>
            <p:nvPr/>
          </p:nvSpPr>
          <p:spPr>
            <a:xfrm rot="-5400000">
              <a:off x="9108713" y="2270224"/>
              <a:ext cx="1433100" cy="43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entury Gothic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machine</a:t>
              </a:r>
              <a:endParaRPr sz="2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4" name="Google Shape;374;p34"/>
            <p:cNvSpPr txBox="1"/>
            <p:nvPr/>
          </p:nvSpPr>
          <p:spPr>
            <a:xfrm rot="-5400000">
              <a:off x="7943252" y="2656030"/>
              <a:ext cx="593100" cy="43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entury Gothic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fun</a:t>
              </a:r>
              <a:endParaRPr/>
            </a:p>
          </p:txBody>
        </p:sp>
        <p:sp>
          <p:nvSpPr>
            <p:cNvPr id="375" name="Google Shape;375;p34"/>
            <p:cNvSpPr txBox="1"/>
            <p:nvPr/>
          </p:nvSpPr>
          <p:spPr>
            <a:xfrm>
              <a:off x="7661791" y="3130244"/>
              <a:ext cx="3756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…</a:t>
              </a: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6" name="Google Shape;376;p34"/>
            <p:cNvSpPr txBox="1"/>
            <p:nvPr/>
          </p:nvSpPr>
          <p:spPr>
            <a:xfrm>
              <a:off x="8459712" y="3142149"/>
              <a:ext cx="3756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…</a:t>
              </a: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7" name="Google Shape;377;p34"/>
            <p:cNvSpPr txBox="1"/>
            <p:nvPr/>
          </p:nvSpPr>
          <p:spPr>
            <a:xfrm>
              <a:off x="9281446" y="3142147"/>
              <a:ext cx="3756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…</a:t>
              </a: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8" name="Google Shape;378;p34"/>
            <p:cNvSpPr txBox="1"/>
            <p:nvPr/>
          </p:nvSpPr>
          <p:spPr>
            <a:xfrm>
              <a:off x="10067454" y="3177873"/>
              <a:ext cx="3756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…</a:t>
              </a:r>
              <a:endPara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10377470" y="3147114"/>
              <a:ext cx="447600" cy="447600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/>
            </a:p>
          </p:txBody>
        </p:sp>
        <p:sp>
          <p:nvSpPr>
            <p:cNvPr id="380" name="Google Shape;380;p34"/>
            <p:cNvSpPr txBox="1"/>
            <p:nvPr/>
          </p:nvSpPr>
          <p:spPr>
            <a:xfrm rot="-5400000">
              <a:off x="10012063" y="2378249"/>
              <a:ext cx="1134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zyzzyva</a:t>
              </a:r>
              <a:endParaRPr/>
            </a:p>
          </p:txBody>
        </p:sp>
        <p:sp>
          <p:nvSpPr>
            <p:cNvPr id="381" name="Google Shape;381;p34"/>
            <p:cNvSpPr/>
            <p:nvPr/>
          </p:nvSpPr>
          <p:spPr>
            <a:xfrm rot="-5400000">
              <a:off x="6733313" y="2293199"/>
              <a:ext cx="13050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aardwolf</a:t>
              </a:r>
              <a:endParaRPr/>
            </a:p>
          </p:txBody>
        </p:sp>
        <p:sp>
          <p:nvSpPr>
            <p:cNvPr id="382" name="Google Shape;382;p34"/>
            <p:cNvSpPr txBox="1"/>
            <p:nvPr/>
          </p:nvSpPr>
          <p:spPr>
            <a:xfrm>
              <a:off x="5632016" y="3149525"/>
              <a:ext cx="1212300" cy="43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entury Gothic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Vector</a:t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2172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5"/>
          <p:cNvSpPr txBox="1"/>
          <p:nvPr/>
        </p:nvSpPr>
        <p:spPr>
          <a:xfrm>
            <a:off x="396098" y="350227"/>
            <a:ext cx="3275636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lang="en-US" sz="240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I (Joey</a:t>
            </a:r>
            <a:r>
              <a:rPr lang="en-US" sz="24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) </a:t>
            </a:r>
            <a:r>
              <a:rPr lang="en-US" sz="240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made this art piece in graduate school.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400" i="0" u="none" strike="noStrike" cap="non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lang="en-US" sz="240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Do you see the stop word?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400" i="0" u="none" strike="noStrike" cap="non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lang="en-US" sz="240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There used to be a dustbin and broom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lang="en-US" sz="240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…but the janitors got confused…</a:t>
            </a:r>
            <a:endParaRPr sz="2400" i="0" u="none" strike="noStrike" cap="non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 txBox="1">
            <a:spLocks noGrp="1"/>
          </p:cNvSpPr>
          <p:nvPr>
            <p:ph type="title"/>
          </p:nvPr>
        </p:nvSpPr>
        <p:spPr>
          <a:xfrm>
            <a:off x="552450" y="320675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N-Gram Encoding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394" name="Google Shape;394;p36"/>
          <p:cNvSpPr txBox="1">
            <a:spLocks noGrp="1"/>
          </p:cNvSpPr>
          <p:nvPr>
            <p:ph type="body" idx="1"/>
          </p:nvPr>
        </p:nvSpPr>
        <p:spPr>
          <a:xfrm>
            <a:off x="838200" y="1814052"/>
            <a:ext cx="10515600" cy="436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2060"/>
                </a:solidFill>
                <a:latin typeface="Roboto Light"/>
                <a:ea typeface="Roboto Light"/>
                <a:cs typeface="Roboto Light"/>
                <a:sym typeface="Roboto Light"/>
              </a:rPr>
              <a:t>Sometimes word order matters:</a:t>
            </a:r>
            <a:endParaRPr b="1" dirty="0">
              <a:solidFill>
                <a:srgbClr val="00206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265113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265113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  <a:latin typeface="Roboto Light"/>
                <a:ea typeface="Roboto Light"/>
                <a:cs typeface="Roboto Light"/>
                <a:sym typeface="Roboto Light"/>
              </a:rPr>
              <a:t>How do we capture word order in a “vector” model?</a:t>
            </a:r>
            <a:endParaRPr b="1" dirty="0">
              <a:solidFill>
                <a:schemeClr val="tx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Roboto Light"/>
              <a:buChar char="●"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N-Gram: </a:t>
            </a:r>
            <a:r>
              <a:rPr lang="en-US" i="1" dirty="0">
                <a:latin typeface="Roboto Light"/>
                <a:ea typeface="Roboto Light"/>
                <a:cs typeface="Roboto Light"/>
                <a:sym typeface="Roboto Light"/>
              </a:rPr>
              <a:t>“Bag-of- sequences-of-words”.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5" name="Google Shape;395;p36"/>
          <p:cNvSpPr/>
          <p:nvPr/>
        </p:nvSpPr>
        <p:spPr>
          <a:xfrm>
            <a:off x="838200" y="2536410"/>
            <a:ext cx="4887466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"/>
              <a:buNone/>
            </a:pPr>
            <a:r>
              <a:rPr lang="en-US" sz="3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The book was </a:t>
            </a:r>
            <a:r>
              <a:rPr lang="en-US" sz="3200" b="1" i="1" u="sng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not</a:t>
            </a:r>
            <a:r>
              <a:rPr lang="en-US" sz="3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well written but I did enjoy it.</a:t>
            </a:r>
            <a:endParaRPr sz="3200" b="0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96" name="Google Shape;396;p36"/>
          <p:cNvSpPr/>
          <p:nvPr/>
        </p:nvSpPr>
        <p:spPr>
          <a:xfrm>
            <a:off x="6885038" y="2536410"/>
            <a:ext cx="4887466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"/>
              <a:buNone/>
            </a:pPr>
            <a:r>
              <a:rPr lang="en-US" sz="3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The book was well written but I did </a:t>
            </a:r>
            <a:r>
              <a:rPr lang="en-US" sz="3200" b="1" i="1" u="sng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not</a:t>
            </a:r>
            <a:r>
              <a:rPr lang="en-US" sz="3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enjoy it.</a:t>
            </a:r>
            <a:endParaRPr sz="3200" b="0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5725666" y="2757948"/>
            <a:ext cx="530942" cy="42770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>
            <a:spLocks noGrp="1"/>
          </p:cNvSpPr>
          <p:nvPr>
            <p:ph type="title"/>
          </p:nvPr>
        </p:nvSpPr>
        <p:spPr>
          <a:xfrm>
            <a:off x="663677" y="4838001"/>
            <a:ext cx="103912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/>
              <a:t>2-Gram Encoding</a:t>
            </a:r>
            <a:endParaRPr/>
          </a:p>
        </p:txBody>
      </p:sp>
      <p:grpSp>
        <p:nvGrpSpPr>
          <p:cNvPr id="403" name="Google Shape;403;p37"/>
          <p:cNvGrpSpPr/>
          <p:nvPr/>
        </p:nvGrpSpPr>
        <p:grpSpPr>
          <a:xfrm>
            <a:off x="6169230" y="3406806"/>
            <a:ext cx="5422691" cy="3150260"/>
            <a:chOff x="4855689" y="2759018"/>
            <a:chExt cx="6455379" cy="3750190"/>
          </a:xfrm>
        </p:grpSpPr>
        <p:sp>
          <p:nvSpPr>
            <p:cNvPr id="404" name="Google Shape;404;p37"/>
            <p:cNvSpPr/>
            <p:nvPr/>
          </p:nvSpPr>
          <p:spPr>
            <a:xfrm rot="-5400000">
              <a:off x="6219035" y="4350102"/>
              <a:ext cx="2680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entury Gothic"/>
                <a:buNone/>
              </a:pPr>
              <a:r>
                <a:rPr lang="en-US" sz="2800" b="1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book well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5" name="Google Shape;405;p37"/>
            <p:cNvSpPr/>
            <p:nvPr/>
          </p:nvSpPr>
          <p:spPr>
            <a:xfrm rot="-5400000">
              <a:off x="6949076" y="4169857"/>
              <a:ext cx="2939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entury Gothic"/>
                <a:buNone/>
              </a:pPr>
              <a:r>
                <a:rPr lang="en-US" sz="2800" b="1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not enjoy</a:t>
              </a:r>
              <a:endParaRPr sz="28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6" name="Google Shape;406;p37"/>
            <p:cNvSpPr/>
            <p:nvPr/>
          </p:nvSpPr>
          <p:spPr>
            <a:xfrm rot="-5400000">
              <a:off x="7749063" y="4121827"/>
              <a:ext cx="3010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entury Gothic"/>
                <a:buNone/>
              </a:pPr>
              <a:r>
                <a:rPr lang="en-US" sz="2800" b="1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well written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7" name="Google Shape;407;p37"/>
            <p:cNvSpPr/>
            <p:nvPr/>
          </p:nvSpPr>
          <p:spPr>
            <a:xfrm rot="-5400000">
              <a:off x="8606951" y="4062518"/>
              <a:ext cx="3130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entury Gothic"/>
                <a:buNone/>
              </a:pPr>
              <a:r>
                <a:rPr lang="en-US" sz="2800" b="1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written not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5969782" y="6021516"/>
              <a:ext cx="5341286" cy="48769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None/>
              </a:pPr>
              <a:endParaRPr sz="16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09" name="Google Shape;409;p37"/>
            <p:cNvSpPr/>
            <p:nvPr/>
          </p:nvSpPr>
          <p:spPr>
            <a:xfrm>
              <a:off x="5969781" y="6026869"/>
              <a:ext cx="482339" cy="482339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0" name="Google Shape;410;p37"/>
            <p:cNvSpPr/>
            <p:nvPr/>
          </p:nvSpPr>
          <p:spPr>
            <a:xfrm>
              <a:off x="6452120" y="6026869"/>
              <a:ext cx="482339" cy="482339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1" name="Google Shape;411;p37"/>
            <p:cNvSpPr/>
            <p:nvPr/>
          </p:nvSpPr>
          <p:spPr>
            <a:xfrm>
              <a:off x="7345195" y="6026869"/>
              <a:ext cx="482339" cy="482339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8212596" y="6026869"/>
              <a:ext cx="482339" cy="482339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3" name="Google Shape;413;p37"/>
            <p:cNvSpPr/>
            <p:nvPr/>
          </p:nvSpPr>
          <p:spPr>
            <a:xfrm>
              <a:off x="9054330" y="6026869"/>
              <a:ext cx="482339" cy="482339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4" name="Google Shape;414;p37"/>
            <p:cNvSpPr txBox="1"/>
            <p:nvPr/>
          </p:nvSpPr>
          <p:spPr>
            <a:xfrm>
              <a:off x="6940332" y="6008687"/>
              <a:ext cx="38985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…</a:t>
              </a:r>
              <a:endParaRPr sz="16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5" name="Google Shape;415;p37"/>
            <p:cNvSpPr txBox="1"/>
            <p:nvPr/>
          </p:nvSpPr>
          <p:spPr>
            <a:xfrm>
              <a:off x="7800304" y="6021518"/>
              <a:ext cx="38985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…</a:t>
              </a:r>
              <a:endParaRPr sz="16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6" name="Google Shape;416;p37"/>
            <p:cNvSpPr txBox="1"/>
            <p:nvPr/>
          </p:nvSpPr>
          <p:spPr>
            <a:xfrm>
              <a:off x="8685940" y="6021516"/>
              <a:ext cx="38985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…</a:t>
              </a:r>
              <a:endParaRPr sz="16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7" name="Google Shape;417;p37"/>
            <p:cNvSpPr txBox="1"/>
            <p:nvPr/>
          </p:nvSpPr>
          <p:spPr>
            <a:xfrm>
              <a:off x="9536669" y="6060020"/>
              <a:ext cx="38985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…</a:t>
              </a:r>
              <a:endParaRPr sz="16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8" name="Google Shape;418;p37"/>
            <p:cNvSpPr/>
            <p:nvPr/>
          </p:nvSpPr>
          <p:spPr>
            <a:xfrm>
              <a:off x="10828728" y="6026869"/>
              <a:ext cx="482339" cy="482339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9" name="Google Shape;419;p37"/>
            <p:cNvSpPr txBox="1"/>
            <p:nvPr/>
          </p:nvSpPr>
          <p:spPr>
            <a:xfrm>
              <a:off x="4855689" y="6029247"/>
              <a:ext cx="1114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</a:pPr>
              <a:r>
                <a:rPr lang="en-US" sz="18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Vector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20" name="Google Shape;420;p37"/>
            <p:cNvSpPr/>
            <p:nvPr/>
          </p:nvSpPr>
          <p:spPr>
            <a:xfrm>
              <a:off x="9941529" y="6026869"/>
              <a:ext cx="482339" cy="482339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21" name="Google Shape;421;p37"/>
            <p:cNvSpPr txBox="1"/>
            <p:nvPr/>
          </p:nvSpPr>
          <p:spPr>
            <a:xfrm>
              <a:off x="10423867" y="6060020"/>
              <a:ext cx="38985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…</a:t>
              </a:r>
              <a:endParaRPr sz="16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22" name="Google Shape;422;p37"/>
            <p:cNvSpPr/>
            <p:nvPr/>
          </p:nvSpPr>
          <p:spPr>
            <a:xfrm rot="-5400000">
              <a:off x="4842342" y="4415096"/>
              <a:ext cx="26970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aardvark airlines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23" name="Google Shape;423;p37"/>
            <p:cNvSpPr/>
            <p:nvPr/>
          </p:nvSpPr>
          <p:spPr>
            <a:xfrm rot="-5400000">
              <a:off x="5753839" y="4914150"/>
              <a:ext cx="17646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apple pen</a:t>
              </a:r>
              <a:endParaRPr sz="16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24" name="Google Shape;424;p37"/>
            <p:cNvSpPr/>
            <p:nvPr/>
          </p:nvSpPr>
          <p:spPr>
            <a:xfrm rot="-5400000">
              <a:off x="10244575" y="4997708"/>
              <a:ext cx="16692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entury Gothic"/>
                <a:buNone/>
              </a:pPr>
              <a:r>
                <a:rPr lang="en-US" sz="1600" i="0" u="none" strike="noStrike" cap="none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zyzzyva sf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pic>
        <p:nvPicPr>
          <p:cNvPr id="425" name="Google Shape;4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050" y="203025"/>
            <a:ext cx="9303900" cy="370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"/>
          <p:cNvSpPr txBox="1">
            <a:spLocks noGrp="1"/>
          </p:cNvSpPr>
          <p:nvPr>
            <p:ph type="title"/>
          </p:nvPr>
        </p:nvSpPr>
        <p:spPr>
          <a:xfrm>
            <a:off x="552450" y="320675"/>
            <a:ext cx="10801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chemeClr val="tx1"/>
                </a:solidFill>
              </a:rPr>
              <a:t>N-Gram Encoding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431" name="Google Shape;431;p38"/>
          <p:cNvSpPr txBox="1">
            <a:spLocks noGrp="1"/>
          </p:cNvSpPr>
          <p:nvPr>
            <p:ph type="body" idx="1"/>
          </p:nvPr>
        </p:nvSpPr>
        <p:spPr>
          <a:xfrm>
            <a:off x="838200" y="1429827"/>
            <a:ext cx="10515600" cy="43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2060"/>
                </a:solidFill>
                <a:latin typeface="Roboto Light"/>
                <a:ea typeface="Roboto Light"/>
                <a:cs typeface="Roboto Light"/>
                <a:sym typeface="Roboto Light"/>
              </a:rPr>
              <a:t>Sometimes word order matters:</a:t>
            </a:r>
            <a:endParaRPr b="1" dirty="0">
              <a:solidFill>
                <a:srgbClr val="00206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265112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265112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How do we capture word order in a “vector” model?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457200" lvl="0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Roboto Light"/>
              <a:buChar char="●"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N-Gram: </a:t>
            </a:r>
            <a:r>
              <a:rPr lang="en-US" i="1" dirty="0">
                <a:latin typeface="Roboto Light"/>
                <a:ea typeface="Roboto Light"/>
                <a:cs typeface="Roboto Light"/>
                <a:sym typeface="Roboto Light"/>
              </a:rPr>
              <a:t>“Bag-of- sequences-of-words”.</a:t>
            </a:r>
            <a:endParaRPr i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Issues: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81000" algn="l" rtl="0">
              <a:spcBef>
                <a:spcPts val="1100"/>
              </a:spcBef>
              <a:spcAft>
                <a:spcPts val="0"/>
              </a:spcAft>
              <a:buSzPts val="2400"/>
              <a:buFont typeface="Roboto Light"/>
              <a:buChar char="○"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Can be very sparse (many combinations occur only once)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81000" algn="l" rtl="0">
              <a:spcBef>
                <a:spcPts val="500"/>
              </a:spcBef>
              <a:spcAft>
                <a:spcPts val="0"/>
              </a:spcAft>
              <a:buSzPts val="2400"/>
              <a:buFont typeface="Roboto Light"/>
              <a:buChar char="○"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Many combinations will only occur at prediction time – drop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81000" algn="l" rtl="0">
              <a:spcBef>
                <a:spcPts val="500"/>
              </a:spcBef>
              <a:spcAft>
                <a:spcPts val="0"/>
              </a:spcAft>
              <a:buSzPts val="2400"/>
              <a:buFont typeface="Roboto Light"/>
              <a:buChar char="○"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Often use hashing approximation: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1371600" lvl="2" indent="-355600" algn="l" rtl="0">
              <a:spcBef>
                <a:spcPts val="500"/>
              </a:spcBef>
              <a:spcAft>
                <a:spcPts val="0"/>
              </a:spcAft>
              <a:buSzPts val="2000"/>
              <a:buChar char="■"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Increment counter at </a:t>
            </a:r>
            <a:r>
              <a:rPr lang="en-US" b="1" i="1" dirty="0"/>
              <a:t>hash(“not enjoy”)</a:t>
            </a:r>
            <a:r>
              <a:rPr lang="en-US" i="1" dirty="0">
                <a:latin typeface="Roboto Light"/>
                <a:ea typeface="Roboto Light"/>
                <a:cs typeface="Roboto Light"/>
                <a:sym typeface="Roboto Light"/>
              </a:rPr>
              <a:t> collisions are okay</a:t>
            </a:r>
            <a:endParaRPr i="1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04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i="1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32" name="Google Shape;432;p38"/>
          <p:cNvSpPr/>
          <p:nvPr/>
        </p:nvSpPr>
        <p:spPr>
          <a:xfrm>
            <a:off x="838200" y="2222510"/>
            <a:ext cx="48876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"/>
              <a:buNone/>
            </a:pPr>
            <a:r>
              <a:rPr lang="en-US" sz="3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The book was </a:t>
            </a:r>
            <a:r>
              <a:rPr lang="en-US" sz="3200" b="1" i="1" u="sng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not</a:t>
            </a:r>
            <a:r>
              <a:rPr lang="en-US" sz="3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well written but I did enjoy it.</a:t>
            </a:r>
            <a:endParaRPr sz="3200" b="0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33" name="Google Shape;433;p38"/>
          <p:cNvSpPr/>
          <p:nvPr/>
        </p:nvSpPr>
        <p:spPr>
          <a:xfrm>
            <a:off x="6874913" y="2222510"/>
            <a:ext cx="48876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"/>
              <a:buNone/>
            </a:pPr>
            <a:r>
              <a:rPr lang="en-US" sz="3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The book was well written but I did </a:t>
            </a:r>
            <a:r>
              <a:rPr lang="en-US" sz="3200" b="1" i="1" u="sng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not</a:t>
            </a:r>
            <a:r>
              <a:rPr lang="en-US" sz="3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enjoy it.</a:t>
            </a:r>
            <a:endParaRPr sz="3200" b="0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34" name="Google Shape;434;p38"/>
          <p:cNvSpPr/>
          <p:nvPr/>
        </p:nvSpPr>
        <p:spPr>
          <a:xfrm>
            <a:off x="5687691" y="2547248"/>
            <a:ext cx="531000" cy="42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 txBox="1">
            <a:spLocks noGrp="1"/>
          </p:cNvSpPr>
          <p:nvPr>
            <p:ph type="title"/>
          </p:nvPr>
        </p:nvSpPr>
        <p:spPr>
          <a:xfrm>
            <a:off x="417539" y="200754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b="1" dirty="0">
                <a:solidFill>
                  <a:srgbClr val="002060"/>
                </a:solidFill>
              </a:rPr>
              <a:t>Feature Transformations to Capture Domain Knowledge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441" name="Google Shape;441;p39"/>
          <p:cNvSpPr txBox="1">
            <a:spLocks noGrp="1"/>
          </p:cNvSpPr>
          <p:nvPr>
            <p:ph type="body" idx="1"/>
          </p:nvPr>
        </p:nvSpPr>
        <p:spPr>
          <a:xfrm>
            <a:off x="703289" y="1705704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2060"/>
                </a:solidFill>
                <a:latin typeface="Roboto Light"/>
                <a:ea typeface="Roboto Light"/>
                <a:cs typeface="Roboto Light"/>
                <a:sym typeface="Roboto Light"/>
              </a:rPr>
              <a:t>Feature functions capture domain knowledge by introducing </a:t>
            </a:r>
            <a:r>
              <a:rPr lang="en-US" b="1" dirty="0">
                <a:solidFill>
                  <a:srgbClr val="002060"/>
                </a:solidFill>
              </a:rPr>
              <a:t>additional information</a:t>
            </a:r>
            <a:r>
              <a:rPr lang="en-US" b="1" dirty="0">
                <a:solidFill>
                  <a:srgbClr val="002060"/>
                </a:solidFill>
                <a:latin typeface="Roboto Light"/>
                <a:ea typeface="Roboto Light"/>
                <a:cs typeface="Roboto Light"/>
                <a:sym typeface="Roboto Light"/>
              </a:rPr>
              <a:t> from other sources and/or combining features.</a:t>
            </a:r>
            <a:endParaRPr b="1" dirty="0">
              <a:solidFill>
                <a:srgbClr val="00206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1373188" lvl="2" indent="-184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e.g. Encoding non-linear patterns: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1100"/>
              </a:spcAft>
              <a:buClr>
                <a:schemeClr val="dk1"/>
              </a:buClr>
              <a:buSzPts val="2400"/>
              <a:buNone/>
            </a:pP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42" name="Google Shape;44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8907" y="3189950"/>
            <a:ext cx="58928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3214" y="4939919"/>
            <a:ext cx="44450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0485" y="4010661"/>
            <a:ext cx="4074746" cy="283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9"/>
          <p:cNvSpPr txBox="1"/>
          <p:nvPr/>
        </p:nvSpPr>
        <p:spPr>
          <a:xfrm>
            <a:off x="8126076" y="2730925"/>
            <a:ext cx="299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Could do a database lookup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46" name="Google Shape;446;p39"/>
          <p:cNvSpPr txBox="1"/>
          <p:nvPr/>
        </p:nvSpPr>
        <p:spPr>
          <a:xfrm>
            <a:off x="8065307" y="5689236"/>
            <a:ext cx="20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Diurnal patterns.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>
            <a:spLocks noGrp="1"/>
          </p:cNvSpPr>
          <p:nvPr>
            <p:ph type="title"/>
          </p:nvPr>
        </p:nvSpPr>
        <p:spPr>
          <a:xfrm>
            <a:off x="415600" y="430544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2060"/>
                </a:solidFill>
              </a:rPr>
              <a:t>Pitfalls of Feature Engineering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453" name="Google Shape;453;p40"/>
          <p:cNvSpPr txBox="1">
            <a:spLocks noGrp="1"/>
          </p:cNvSpPr>
          <p:nvPr>
            <p:ph type="body" idx="1"/>
          </p:nvPr>
        </p:nvSpPr>
        <p:spPr>
          <a:xfrm>
            <a:off x="415600" y="430544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b="1" dirty="0">
              <a:solidFill>
                <a:srgbClr val="002060"/>
              </a:solidFill>
            </a:endParaRPr>
          </a:p>
          <a:p>
            <a:pPr marL="457200" lvl="0" indent="-361950" algn="l" rtl="0">
              <a:spcBef>
                <a:spcPts val="1100"/>
              </a:spcBef>
              <a:spcAft>
                <a:spcPts val="0"/>
              </a:spcAft>
              <a:buSzPts val="2100"/>
              <a:buChar char="●"/>
            </a:pPr>
            <a:r>
              <a:rPr lang="en-US" b="1" dirty="0">
                <a:solidFill>
                  <a:srgbClr val="002060"/>
                </a:solidFill>
              </a:rPr>
              <a:t>Redundant features</a:t>
            </a:r>
            <a:r>
              <a:rPr lang="en-US" dirty="0">
                <a:solidFill>
                  <a:srgbClr val="002060"/>
                </a:solidFill>
              </a:rPr>
              <a:t>.</a:t>
            </a:r>
            <a:endParaRPr dirty="0">
              <a:solidFill>
                <a:srgbClr val="002060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b="1" dirty="0">
                <a:solidFill>
                  <a:srgbClr val="002060"/>
                </a:solidFill>
              </a:rPr>
              <a:t>When one feature is a linear combination of the others, there isn’t a unique solution for our parameter vector theta.</a:t>
            </a:r>
            <a:endParaRPr b="1" dirty="0">
              <a:solidFill>
                <a:srgbClr val="002060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b="1" dirty="0"/>
              <a:t>Too many features.</a:t>
            </a:r>
            <a:endParaRPr b="1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b="1" dirty="0"/>
              <a:t>When there are more columns than rows in our design matrix, there isn’t a unique solution for our parameter vector theta.</a:t>
            </a:r>
            <a:endParaRPr b="1"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b="1" dirty="0">
                <a:solidFill>
                  <a:srgbClr val="002060"/>
                </a:solidFill>
              </a:rPr>
              <a:t>Overfitting.</a:t>
            </a: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b="1" dirty="0">
                <a:solidFill>
                  <a:srgbClr val="002060"/>
                </a:solidFill>
              </a:rPr>
              <a:t>When we use too many complicated features, our model may fit to the “noise” in our collected data, and may not generalize to unseen data as well.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b="1" dirty="0">
                <a:solidFill>
                  <a:srgbClr val="C00000"/>
                </a:solidFill>
              </a:rPr>
              <a:t>Automated Feature Extraction / Engineering</a:t>
            </a:r>
            <a:endParaRPr b="1" dirty="0">
              <a:solidFill>
                <a:srgbClr val="C00000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b="1" dirty="0">
                <a:solidFill>
                  <a:srgbClr val="002060"/>
                </a:solidFill>
              </a:rPr>
              <a:t>Learn features in an automated way which may address some of the standard Feature Engineering issues</a:t>
            </a:r>
          </a:p>
          <a:p>
            <a:pPr marL="552450" lvl="1" indent="0" algn="l" rtl="0"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 marL="552450" lvl="1" indent="0" algn="l" rtl="0"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C9DAF8"/>
      </a:lt2>
      <a:accent1>
        <a:srgbClr val="4B2E83"/>
      </a:accent1>
      <a:accent2>
        <a:srgbClr val="C04E36"/>
      </a:accent2>
      <a:accent3>
        <a:srgbClr val="278B4C"/>
      </a:accent3>
      <a:accent4>
        <a:srgbClr val="C0AE36"/>
      </a:accent4>
      <a:accent5>
        <a:srgbClr val="B7A57A"/>
      </a:accent5>
      <a:accent6>
        <a:srgbClr val="85754D"/>
      </a:accent6>
      <a:hlink>
        <a:srgbClr val="4B2E8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</TotalTime>
  <Words>2493</Words>
  <Application>Microsoft Office PowerPoint</Application>
  <PresentationFormat>Widescreen</PresentationFormat>
  <Paragraphs>635</Paragraphs>
  <Slides>37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0" baseType="lpstr">
      <vt:lpstr>Arial</vt:lpstr>
      <vt:lpstr>Roboto</vt:lpstr>
      <vt:lpstr>Times</vt:lpstr>
      <vt:lpstr>Times New Roman</vt:lpstr>
      <vt:lpstr>Noto Sans Symbols</vt:lpstr>
      <vt:lpstr>Helvetica Neue</vt:lpstr>
      <vt:lpstr>Tahoma</vt:lpstr>
      <vt:lpstr>Helvetica</vt:lpstr>
      <vt:lpstr>Calibri</vt:lpstr>
      <vt:lpstr>Roboto Light</vt:lpstr>
      <vt:lpstr>Wingdings</vt:lpstr>
      <vt:lpstr>Century Gothic</vt:lpstr>
      <vt:lpstr>Simple Lecture</vt:lpstr>
      <vt:lpstr>                 Lecture 5 Feature Engineering</vt:lpstr>
      <vt:lpstr>                         What is Feature Engineering - 1</vt:lpstr>
      <vt:lpstr>                            What is Feature Engineering - 2</vt:lpstr>
      <vt:lpstr>Feature Engineering - A Simple Example </vt:lpstr>
      <vt:lpstr>             Feature Engineering – More Formal Definition</vt:lpstr>
      <vt:lpstr>             Feature Engineering – In a Nutshell</vt:lpstr>
      <vt:lpstr> Iterative Process of Feature Engineering - 1</vt:lpstr>
      <vt:lpstr> Iterative Process of Feature Engineering - 2</vt:lpstr>
      <vt:lpstr>             Feature Engineering – Major Types -1</vt:lpstr>
      <vt:lpstr>             Feature Engineering – Major Types  - 2</vt:lpstr>
      <vt:lpstr>Basic Feature Types</vt:lpstr>
      <vt:lpstr>             Feature Engineering – Examples</vt:lpstr>
      <vt:lpstr> Feature Engineering – Examples</vt:lpstr>
      <vt:lpstr>Methods to Create / Derive New Features</vt:lpstr>
      <vt:lpstr>Methods to Create / Derive New Features</vt:lpstr>
      <vt:lpstr>Feature Functions</vt:lpstr>
      <vt:lpstr>Feature Functions</vt:lpstr>
      <vt:lpstr>Feature Functions</vt:lpstr>
      <vt:lpstr>Feature Engineering – Focus on Domain Knowledge and Relationships</vt:lpstr>
      <vt:lpstr>The Constant Feature Function</vt:lpstr>
      <vt:lpstr>Modeling Non-linear Relationships</vt:lpstr>
      <vt:lpstr>Focusing on Relationships between Features</vt:lpstr>
      <vt:lpstr>Encoding categorical and text features</vt:lpstr>
      <vt:lpstr>Encoding Categorical and Text Features</vt:lpstr>
      <vt:lpstr>Predict rating from review information</vt:lpstr>
      <vt:lpstr>As a Linear Model?</vt:lpstr>
      <vt:lpstr>Basic Transformations</vt:lpstr>
      <vt:lpstr>One-Hot Encoding (dummy encoding)</vt:lpstr>
      <vt:lpstr>Encoding Missing Values</vt:lpstr>
      <vt:lpstr>Encoding categorical data</vt:lpstr>
      <vt:lpstr>Bag-of-words Encoding</vt:lpstr>
      <vt:lpstr>PowerPoint Presentation</vt:lpstr>
      <vt:lpstr>N-Gram Encoding</vt:lpstr>
      <vt:lpstr>2-Gram Encoding</vt:lpstr>
      <vt:lpstr>N-Gram Encoding</vt:lpstr>
      <vt:lpstr>Feature Transformations to Capture Domain Knowledge</vt:lpstr>
      <vt:lpstr>Pitfalls of Feature Engineering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Lecture 4 Dimensionality Reduction &amp; VC Dimension</dc:title>
  <cp:lastModifiedBy>Emdad</cp:lastModifiedBy>
  <cp:revision>38</cp:revision>
  <dcterms:modified xsi:type="dcterms:W3CDTF">2023-05-09T14:33:39Z</dcterms:modified>
</cp:coreProperties>
</file>